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 id="272" r:id="rId18"/>
    <p:sldId id="273" r:id="rId19"/>
    <p:sldId id="274" r:id="rId20"/>
    <p:sldId id="275" r:id="rId21"/>
    <p:sldId id="282"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4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14905E-37C4-4636-AE44-99868D9F3C89}" type="datetimeFigureOut">
              <a:rPr lang="en-IN" smtClean="0"/>
              <a:t>18-01-2023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E39AE-D681-4B4A-A0B1-55151F218C83}" type="slidenum">
              <a:rPr lang="en-IN" smtClean="0"/>
              <a:t>‹#›</a:t>
            </a:fld>
            <a:endParaRPr lang="en-IN"/>
          </a:p>
        </p:txBody>
      </p:sp>
    </p:spTree>
    <p:extLst>
      <p:ext uri="{BB962C8B-B14F-4D97-AF65-F5344CB8AC3E}">
        <p14:creationId xmlns:p14="http://schemas.microsoft.com/office/powerpoint/2010/main" val="2788763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8EE39AE-D681-4B4A-A0B1-55151F218C83}" type="slidenum">
              <a:rPr lang="en-IN" smtClean="0"/>
              <a:t>16</a:t>
            </a:fld>
            <a:endParaRPr lang="en-IN"/>
          </a:p>
        </p:txBody>
      </p:sp>
    </p:spTree>
    <p:extLst>
      <p:ext uri="{BB962C8B-B14F-4D97-AF65-F5344CB8AC3E}">
        <p14:creationId xmlns:p14="http://schemas.microsoft.com/office/powerpoint/2010/main" val="3615203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3CED902-7F5F-49BE-9300-73CDF5683D81}" type="datetimeFigureOut">
              <a:rPr lang="en-IN" smtClean="0"/>
              <a:t>18-01-2023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4289959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CED902-7F5F-49BE-9300-73CDF5683D81}" type="datetimeFigureOut">
              <a:rPr lang="en-IN" smtClean="0"/>
              <a:t>18-01-2023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2569759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CED902-7F5F-49BE-9300-73CDF5683D81}" type="datetimeFigureOut">
              <a:rPr lang="en-IN" smtClean="0"/>
              <a:t>18-01-2023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37960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3CED902-7F5F-49BE-9300-73CDF5683D81}" type="datetimeFigureOut">
              <a:rPr lang="en-IN" smtClean="0"/>
              <a:t>18-01-2023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1216505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3CED902-7F5F-49BE-9300-73CDF5683D81}" type="datetimeFigureOut">
              <a:rPr lang="en-IN" smtClean="0"/>
              <a:t>18-01-2023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4235983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3CED902-7F5F-49BE-9300-73CDF5683D81}" type="datetimeFigureOut">
              <a:rPr lang="en-IN" smtClean="0"/>
              <a:t>18-01-2023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3306044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CED902-7F5F-49BE-9300-73CDF5683D81}" type="datetimeFigureOut">
              <a:rPr lang="en-IN" smtClean="0"/>
              <a:t>18-01-2023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46826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CED902-7F5F-49BE-9300-73CDF5683D81}" type="datetimeFigureOut">
              <a:rPr lang="en-IN" smtClean="0"/>
              <a:t>18-01-2023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2155247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CED902-7F5F-49BE-9300-73CDF5683D81}" type="datetimeFigureOut">
              <a:rPr lang="en-IN" smtClean="0"/>
              <a:t>18-01-2023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24143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CED902-7F5F-49BE-9300-73CDF5683D81}" type="datetimeFigureOut">
              <a:rPr lang="en-IN" smtClean="0"/>
              <a:t>18-01-2023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4108085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CED902-7F5F-49BE-9300-73CDF5683D81}" type="datetimeFigureOut">
              <a:rPr lang="en-IN" smtClean="0"/>
              <a:t>18-01-2023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561352-64B9-4044-A76A-9CB4060E10BA}" type="slidenum">
              <a:rPr lang="en-IN" smtClean="0"/>
              <a:t>‹#›</a:t>
            </a:fld>
            <a:endParaRPr lang="en-IN"/>
          </a:p>
        </p:txBody>
      </p:sp>
    </p:spTree>
    <p:extLst>
      <p:ext uri="{BB962C8B-B14F-4D97-AF65-F5344CB8AC3E}">
        <p14:creationId xmlns:p14="http://schemas.microsoft.com/office/powerpoint/2010/main" val="1174336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CED902-7F5F-49BE-9300-73CDF5683D81}" type="datetimeFigureOut">
              <a:rPr lang="en-IN" smtClean="0"/>
              <a:t>18-01-2023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561352-64B9-4044-A76A-9CB4060E10BA}" type="slidenum">
              <a:rPr lang="en-IN" smtClean="0"/>
              <a:t>‹#›</a:t>
            </a:fld>
            <a:endParaRPr lang="en-IN"/>
          </a:p>
        </p:txBody>
      </p:sp>
    </p:spTree>
    <p:extLst>
      <p:ext uri="{BB962C8B-B14F-4D97-AF65-F5344CB8AC3E}">
        <p14:creationId xmlns:p14="http://schemas.microsoft.com/office/powerpoint/2010/main" val="1522799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390" y="717012"/>
            <a:ext cx="9144000" cy="2387600"/>
          </a:xfrm>
        </p:spPr>
        <p:txBody>
          <a:bodyPr>
            <a:normAutofit/>
          </a:bodyPr>
          <a:lstStyle/>
          <a:p>
            <a:r>
              <a:rPr lang="en-IN" sz="4800" b="1" dirty="0" smtClean="0">
                <a:solidFill>
                  <a:srgbClr val="FF0000"/>
                </a:solidFill>
                <a:latin typeface="Times New Roman" panose="02020603050405020304" pitchFamily="18" charset="0"/>
                <a:cs typeface="Times New Roman" panose="02020603050405020304" pitchFamily="18" charset="0"/>
              </a:rPr>
              <a:t>Module </a:t>
            </a:r>
            <a:r>
              <a:rPr lang="en-IN" sz="4800" b="1" dirty="0" smtClean="0">
                <a:solidFill>
                  <a:srgbClr val="FF0000"/>
                </a:solidFill>
                <a:latin typeface="Times New Roman" panose="02020603050405020304" pitchFamily="18" charset="0"/>
                <a:cs typeface="Times New Roman" panose="02020603050405020304" pitchFamily="18" charset="0"/>
              </a:rPr>
              <a:t>3</a:t>
            </a:r>
            <a:br>
              <a:rPr lang="en-IN" sz="4800" b="1" dirty="0" smtClean="0">
                <a:solidFill>
                  <a:srgbClr val="FF0000"/>
                </a:solidFill>
                <a:latin typeface="Times New Roman" panose="02020603050405020304" pitchFamily="18" charset="0"/>
                <a:cs typeface="Times New Roman" panose="02020603050405020304" pitchFamily="18" charset="0"/>
              </a:rPr>
            </a:br>
            <a:r>
              <a:rPr lang="en-IN" sz="3200" b="1" dirty="0" smtClean="0">
                <a:solidFill>
                  <a:srgbClr val="FF0000"/>
                </a:solidFill>
                <a:latin typeface="Times New Roman" panose="02020603050405020304" pitchFamily="18" charset="0"/>
                <a:cs typeface="Times New Roman" panose="02020603050405020304" pitchFamily="18" charset="0"/>
              </a:rPr>
              <a:t>EXPERIMENTAL DESIGNS</a:t>
            </a:r>
            <a:r>
              <a:rPr lang="en-IN" sz="4400" dirty="0" smtClean="0">
                <a:latin typeface="Times New Roman" panose="02020603050405020304" pitchFamily="18" charset="0"/>
                <a:cs typeface="Times New Roman" panose="02020603050405020304" pitchFamily="18" charset="0"/>
              </a:rPr>
              <a:t/>
            </a:r>
            <a:br>
              <a:rPr lang="en-IN" sz="4400" dirty="0" smtClean="0">
                <a:latin typeface="Times New Roman" panose="02020603050405020304" pitchFamily="18" charset="0"/>
                <a:cs typeface="Times New Roman" panose="02020603050405020304" pitchFamily="18" charset="0"/>
              </a:rPr>
            </a:br>
            <a:endParaRPr lang="en-IN" sz="4400" b="1" u="sng" dirty="0">
              <a:solidFill>
                <a:srgbClr val="00B05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155596" y="2989296"/>
            <a:ext cx="9144000" cy="1655762"/>
          </a:xfrm>
        </p:spPr>
        <p:txBody>
          <a:bodyPr>
            <a:normAutofit/>
          </a:bodyPr>
          <a:lstStyle/>
          <a:p>
            <a:endParaRPr lang="en-IN" sz="2800" dirty="0" smtClean="0">
              <a:latin typeface="Times New Roman" panose="02020603050405020304" pitchFamily="18" charset="0"/>
              <a:cs typeface="Times New Roman" panose="02020603050405020304" pitchFamily="18" charset="0"/>
            </a:endParaRPr>
          </a:p>
          <a:p>
            <a:pPr algn="just"/>
            <a:r>
              <a:rPr lang="en-IN" sz="3600" b="1" dirty="0" smtClean="0">
                <a:solidFill>
                  <a:srgbClr val="FF0000"/>
                </a:solidFill>
                <a:latin typeface="Times New Roman" panose="02020603050405020304" pitchFamily="18" charset="0"/>
                <a:cs typeface="Times New Roman" panose="02020603050405020304" pitchFamily="18" charset="0"/>
              </a:rPr>
              <a:t>Topic </a:t>
            </a:r>
            <a:r>
              <a:rPr lang="en-IN" sz="3600" b="1"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Brief introduction to </a:t>
            </a:r>
            <a:r>
              <a:rPr lang="en-US" sz="2600" dirty="0">
                <a:solidFill>
                  <a:srgbClr val="0070C0"/>
                </a:solidFill>
                <a:latin typeface="Times New Roman" panose="02020603050405020304" pitchFamily="18" charset="0"/>
                <a:cs typeface="Times New Roman" panose="02020603050405020304" pitchFamily="18" charset="0"/>
              </a:rPr>
              <a:t>completely randomized design</a:t>
            </a:r>
            <a:r>
              <a:rPr lang="en-US" sz="2600" dirty="0">
                <a:latin typeface="Times New Roman" panose="02020603050405020304" pitchFamily="18" charset="0"/>
                <a:cs typeface="Times New Roman" panose="02020603050405020304" pitchFamily="18" charset="0"/>
              </a:rPr>
              <a:t>,</a:t>
            </a:r>
          </a:p>
          <a:p>
            <a:pPr algn="just"/>
            <a:r>
              <a:rPr lang="en-US" sz="2600" dirty="0" smtClean="0">
                <a:latin typeface="Times New Roman" panose="02020603050405020304" pitchFamily="18" charset="0"/>
                <a:cs typeface="Times New Roman" panose="02020603050405020304" pitchFamily="18" charset="0"/>
              </a:rPr>
              <a:t>                    </a:t>
            </a:r>
            <a:r>
              <a:rPr lang="en-US" sz="2600" dirty="0" smtClean="0">
                <a:solidFill>
                  <a:srgbClr val="7030A0"/>
                </a:solidFill>
                <a:latin typeface="Times New Roman" panose="02020603050405020304" pitchFamily="18" charset="0"/>
                <a:cs typeface="Times New Roman" panose="02020603050405020304" pitchFamily="18" charset="0"/>
              </a:rPr>
              <a:t>randomized </a:t>
            </a:r>
            <a:r>
              <a:rPr lang="en-US" sz="2600" dirty="0">
                <a:solidFill>
                  <a:srgbClr val="7030A0"/>
                </a:solidFill>
                <a:latin typeface="Times New Roman" panose="02020603050405020304" pitchFamily="18" charset="0"/>
                <a:cs typeface="Times New Roman" panose="02020603050405020304" pitchFamily="18" charset="0"/>
              </a:rPr>
              <a:t>block design </a:t>
            </a:r>
            <a:r>
              <a:rPr lang="en-US" sz="2600" dirty="0">
                <a:latin typeface="Times New Roman" panose="02020603050405020304" pitchFamily="18" charset="0"/>
                <a:cs typeface="Times New Roman" panose="02020603050405020304" pitchFamily="18" charset="0"/>
              </a:rPr>
              <a:t>and </a:t>
            </a:r>
            <a:r>
              <a:rPr lang="en-US" sz="2600" dirty="0">
                <a:solidFill>
                  <a:srgbClr val="C00000"/>
                </a:solidFill>
                <a:latin typeface="Times New Roman" panose="02020603050405020304" pitchFamily="18" charset="0"/>
                <a:cs typeface="Times New Roman" panose="02020603050405020304" pitchFamily="18" charset="0"/>
              </a:rPr>
              <a:t>Latin square designs</a:t>
            </a:r>
            <a:endParaRPr lang="en-IN" sz="2600" dirty="0">
              <a:solidFill>
                <a:srgbClr val="C00000"/>
              </a:solidFill>
              <a:latin typeface="Times New Roman" panose="02020603050405020304" pitchFamily="18" charset="0"/>
              <a:cs typeface="Times New Roman" panose="02020603050405020304" pitchFamily="18" charset="0"/>
            </a:endParaRPr>
          </a:p>
          <a:p>
            <a:endParaRPr lang="en-IN" sz="31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2079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a:t/>
            </a:r>
            <a:br>
              <a:rPr lang="en-US" b="1" dirty="0"/>
            </a:br>
            <a:r>
              <a:rPr lang="en-US" sz="4000" b="1" dirty="0" smtClean="0">
                <a:solidFill>
                  <a:srgbClr val="00B050"/>
                </a:solidFill>
                <a:latin typeface="Times New Roman" panose="02020603050405020304" pitchFamily="18" charset="0"/>
                <a:cs typeface="Times New Roman" panose="02020603050405020304" pitchFamily="18" charset="0"/>
              </a:rPr>
              <a:t>Basic principles of experimental designs</a:t>
            </a:r>
            <a:r>
              <a:rPr lang="en-IN" dirty="0"/>
              <a:t/>
            </a:r>
            <a:br>
              <a:rPr lang="en-IN" dirty="0"/>
            </a:br>
            <a:r>
              <a:rPr lang="en-US" dirty="0"/>
              <a:t> </a:t>
            </a:r>
            <a:r>
              <a:rPr lang="en-IN" dirty="0"/>
              <a:t/>
            </a:r>
            <a:br>
              <a:rPr lang="en-IN" dirty="0"/>
            </a:br>
            <a:endParaRPr lang="en-IN" dirty="0"/>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The basic principles of experimental designs are </a:t>
            </a:r>
            <a:endParaRPr lang="en-US" sz="2400" dirty="0" smtClean="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Principle of</a:t>
            </a:r>
            <a:r>
              <a:rPr lang="en-IN"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Replication</a:t>
            </a:r>
            <a:endParaRPr lang="en-US" dirty="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(2) </a:t>
            </a:r>
            <a:r>
              <a:rPr lang="en-US" dirty="0" smtClean="0">
                <a:latin typeface="Times New Roman" panose="02020603050405020304" pitchFamily="18" charset="0"/>
                <a:cs typeface="Times New Roman" panose="02020603050405020304" pitchFamily="18" charset="0"/>
              </a:rPr>
              <a:t>Principle </a:t>
            </a:r>
            <a:r>
              <a:rPr lang="en-US" dirty="0">
                <a:latin typeface="Times New Roman" panose="02020603050405020304" pitchFamily="18" charset="0"/>
                <a:cs typeface="Times New Roman" panose="02020603050405020304" pitchFamily="18" charset="0"/>
              </a:rPr>
              <a:t>of </a:t>
            </a:r>
            <a:r>
              <a:rPr lang="en-US" dirty="0" smtClean="0">
                <a:latin typeface="Times New Roman" panose="02020603050405020304" pitchFamily="18" charset="0"/>
                <a:cs typeface="Times New Roman" panose="02020603050405020304" pitchFamily="18" charset="0"/>
              </a:rPr>
              <a:t>Randomization</a:t>
            </a:r>
          </a:p>
          <a:p>
            <a:pPr lvl="1"/>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(3) Principle of Local Control.</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591326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sz="3600" b="1" dirty="0">
                <a:solidFill>
                  <a:srgbClr val="00B050"/>
                </a:solidFill>
                <a:latin typeface="Times New Roman" panose="02020603050405020304" pitchFamily="18" charset="0"/>
                <a:cs typeface="Times New Roman" panose="02020603050405020304" pitchFamily="18" charset="0"/>
              </a:rPr>
              <a:t>Principle of</a:t>
            </a:r>
            <a:r>
              <a:rPr lang="en-IN" sz="3600" b="1" dirty="0">
                <a:solidFill>
                  <a:srgbClr val="00B050"/>
                </a:solidFill>
                <a:latin typeface="Times New Roman" panose="02020603050405020304" pitchFamily="18" charset="0"/>
                <a:cs typeface="Times New Roman" panose="02020603050405020304" pitchFamily="18" charset="0"/>
              </a:rPr>
              <a:t> </a:t>
            </a:r>
            <a:r>
              <a:rPr lang="en-US" sz="3600" b="1" dirty="0">
                <a:solidFill>
                  <a:srgbClr val="00B050"/>
                </a:solidFill>
                <a:latin typeface="Times New Roman" panose="02020603050405020304" pitchFamily="18" charset="0"/>
                <a:cs typeface="Times New Roman" panose="02020603050405020304" pitchFamily="18" charset="0"/>
              </a:rPr>
              <a:t>Replication</a:t>
            </a:r>
            <a:endParaRPr lang="en-IN" sz="3600" b="1" dirty="0">
              <a:solidFill>
                <a:srgbClr val="00B050"/>
              </a:solidFill>
            </a:endParaRPr>
          </a:p>
        </p:txBody>
      </p:sp>
      <p:sp>
        <p:nvSpPr>
          <p:cNvPr id="3" name="Content Placeholder 2"/>
          <p:cNvSpPr>
            <a:spLocks noGrp="1"/>
          </p:cNvSpPr>
          <p:nvPr>
            <p:ph idx="1"/>
          </p:nvPr>
        </p:nvSpPr>
        <p:spPr>
          <a:xfrm>
            <a:off x="838200" y="958359"/>
            <a:ext cx="10515600" cy="5753526"/>
          </a:xfrm>
        </p:spPr>
        <p:txBody>
          <a:bodyPr>
            <a:noAutofit/>
          </a:bodyPr>
          <a:lstStyle/>
          <a:p>
            <a:pPr algn="just"/>
            <a:r>
              <a:rPr lang="en-US" sz="2000" dirty="0">
                <a:latin typeface="Times New Roman" panose="02020603050405020304" pitchFamily="18" charset="0"/>
                <a:cs typeface="Times New Roman" panose="02020603050405020304" pitchFamily="18" charset="0"/>
              </a:rPr>
              <a:t>According to the Principle of Replication, the </a:t>
            </a:r>
            <a:r>
              <a:rPr lang="en-US" sz="2000" b="1" dirty="0">
                <a:latin typeface="Times New Roman" panose="02020603050405020304" pitchFamily="18" charset="0"/>
                <a:cs typeface="Times New Roman" panose="02020603050405020304" pitchFamily="18" charset="0"/>
              </a:rPr>
              <a:t>experiment should be repeated more than </a:t>
            </a:r>
            <a:r>
              <a:rPr lang="en-US" sz="2000" b="1" dirty="0" smtClean="0">
                <a:latin typeface="Times New Roman" panose="02020603050405020304" pitchFamily="18" charset="0"/>
                <a:cs typeface="Times New Roman" panose="02020603050405020304" pitchFamily="18" charset="0"/>
              </a:rPr>
              <a:t>once</a:t>
            </a:r>
            <a:r>
              <a:rPr lang="en-US" sz="2000" dirty="0" smtClean="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E</a:t>
            </a:r>
            <a:r>
              <a:rPr lang="en-US" sz="2000" dirty="0" smtClean="0">
                <a:latin typeface="Times New Roman" panose="02020603050405020304" pitchFamily="18" charset="0"/>
                <a:cs typeface="Times New Roman" panose="02020603050405020304" pitchFamily="18" charset="0"/>
              </a:rPr>
              <a:t>ach </a:t>
            </a:r>
            <a:r>
              <a:rPr lang="en-US" sz="2000" dirty="0">
                <a:latin typeface="Times New Roman" panose="02020603050405020304" pitchFamily="18" charset="0"/>
                <a:cs typeface="Times New Roman" panose="02020603050405020304" pitchFamily="18" charset="0"/>
              </a:rPr>
              <a:t>treatment is applied in many experimental units instead of one</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By doing so the statistical accuracy of the experiments is increased.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example, suppose we are to examine the effect of two varieties of rice. For this purpose we may divide the field into two parts and grow one variety in one part and the other variety in the other part</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 can then compare the yield of the two parts and draw conclusion on that basis</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But if we are to apply the principle of replication to this experiment, then </a:t>
            </a:r>
            <a:r>
              <a:rPr lang="en-US" sz="2000" b="1" dirty="0">
                <a:latin typeface="Times New Roman" panose="02020603050405020304" pitchFamily="18" charset="0"/>
                <a:cs typeface="Times New Roman" panose="02020603050405020304" pitchFamily="18" charset="0"/>
              </a:rPr>
              <a:t>we first divide the field into several parts, grow one variety in half of these parts and the other variety in the remaining parts</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We </a:t>
            </a:r>
            <a:r>
              <a:rPr lang="en-US" sz="2000" dirty="0">
                <a:latin typeface="Times New Roman" panose="02020603050405020304" pitchFamily="18" charset="0"/>
                <a:cs typeface="Times New Roman" panose="02020603050405020304" pitchFamily="18" charset="0"/>
              </a:rPr>
              <a:t>can then collect the data of yield of the two varieties and draw conclusion by comparing the same.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result so obtained will be more reliable in comparison to the conclusion we draw without applying the principle of replication. The </a:t>
            </a:r>
            <a:r>
              <a:rPr lang="en-US" sz="2000" b="1" dirty="0">
                <a:latin typeface="Times New Roman" panose="02020603050405020304" pitchFamily="18" charset="0"/>
                <a:cs typeface="Times New Roman" panose="02020603050405020304" pitchFamily="18" charset="0"/>
              </a:rPr>
              <a:t>entire experiment can even be repeated several times for better </a:t>
            </a:r>
            <a:r>
              <a:rPr lang="en-US" sz="2000" b="1" dirty="0" smtClean="0">
                <a:latin typeface="Times New Roman" panose="02020603050405020304" pitchFamily="18" charset="0"/>
                <a:cs typeface="Times New Roman" panose="02020603050405020304" pitchFamily="18" charset="0"/>
              </a:rPr>
              <a:t>results</a:t>
            </a:r>
          </a:p>
          <a:p>
            <a:pPr algn="just"/>
            <a:r>
              <a:rPr lang="en-US" sz="2000" dirty="0" smtClean="0">
                <a:latin typeface="Times New Roman" panose="02020603050405020304" pitchFamily="18" charset="0"/>
                <a:cs typeface="Times New Roman" panose="02020603050405020304" pitchFamily="18" charset="0"/>
              </a:rPr>
              <a:t>Replication </a:t>
            </a:r>
            <a:r>
              <a:rPr lang="en-US" sz="2000" dirty="0">
                <a:latin typeface="Times New Roman" panose="02020603050405020304" pitchFamily="18" charset="0"/>
                <a:cs typeface="Times New Roman" panose="02020603050405020304" pitchFamily="18" charset="0"/>
              </a:rPr>
              <a:t>is introduced in order to increase the precision of a study; that is to say, to increase the accuracy with which the main effects and interactions can be estimated.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6737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7831"/>
            <a:ext cx="10515600" cy="1325563"/>
          </a:xfrm>
        </p:spPr>
        <p:txBody>
          <a:bodyPr>
            <a:normAutofit/>
          </a:bodyPr>
          <a:lstStyle/>
          <a:p>
            <a:pPr algn="ctr"/>
            <a:r>
              <a:rPr lang="en-US" sz="3600" b="1" dirty="0">
                <a:solidFill>
                  <a:srgbClr val="00B050"/>
                </a:solidFill>
                <a:latin typeface="Times New Roman" panose="02020603050405020304" pitchFamily="18" charset="0"/>
                <a:cs typeface="Times New Roman" panose="02020603050405020304" pitchFamily="18" charset="0"/>
              </a:rPr>
              <a:t>Principle of Randomization</a:t>
            </a:r>
            <a:endParaRPr lang="en-IN" sz="3600" b="1" dirty="0">
              <a:solidFill>
                <a:srgbClr val="00B050"/>
              </a:solidFill>
            </a:endParaRPr>
          </a:p>
        </p:txBody>
      </p:sp>
      <p:sp>
        <p:nvSpPr>
          <p:cNvPr id="3" name="Content Placeholder 2"/>
          <p:cNvSpPr>
            <a:spLocks noGrp="1"/>
          </p:cNvSpPr>
          <p:nvPr>
            <p:ph idx="1"/>
          </p:nvPr>
        </p:nvSpPr>
        <p:spPr>
          <a:xfrm>
            <a:off x="838200" y="1533394"/>
            <a:ext cx="10515600" cy="4351338"/>
          </a:xfrm>
        </p:spPr>
        <p:txBody>
          <a:bodyPr>
            <a:noAutofit/>
          </a:bodyPr>
          <a:lstStyle/>
          <a:p>
            <a:pPr algn="just"/>
            <a:r>
              <a:rPr lang="en-US" sz="2000" dirty="0" smtClean="0">
                <a:latin typeface="Times New Roman" panose="02020603050405020304" pitchFamily="18" charset="0"/>
                <a:cs typeface="Times New Roman" panose="02020603050405020304" pitchFamily="18" charset="0"/>
              </a:rPr>
              <a:t>When </a:t>
            </a:r>
            <a:r>
              <a:rPr lang="en-US" sz="2000" dirty="0">
                <a:latin typeface="Times New Roman" panose="02020603050405020304" pitchFamily="18" charset="0"/>
                <a:cs typeface="Times New Roman" panose="02020603050405020304" pitchFamily="18" charset="0"/>
              </a:rPr>
              <a:t>we conduct an experiment t</a:t>
            </a:r>
            <a:r>
              <a:rPr lang="en-US" sz="2000" dirty="0" smtClean="0">
                <a:latin typeface="Times New Roman" panose="02020603050405020304" pitchFamily="18" charset="0"/>
                <a:cs typeface="Times New Roman" panose="02020603050405020304" pitchFamily="18" charset="0"/>
              </a:rPr>
              <a:t>he </a:t>
            </a:r>
            <a:r>
              <a:rPr lang="en-US" sz="2000" b="1" dirty="0">
                <a:latin typeface="Times New Roman" panose="02020603050405020304" pitchFamily="18" charset="0"/>
                <a:cs typeface="Times New Roman" panose="02020603050405020304" pitchFamily="18" charset="0"/>
              </a:rPr>
              <a:t>p</a:t>
            </a:r>
            <a:r>
              <a:rPr lang="en-US" sz="2000" b="1" dirty="0" smtClean="0">
                <a:latin typeface="Times New Roman" panose="02020603050405020304" pitchFamily="18" charset="0"/>
                <a:cs typeface="Times New Roman" panose="02020603050405020304" pitchFamily="18" charset="0"/>
              </a:rPr>
              <a:t>rinciple </a:t>
            </a:r>
            <a:r>
              <a:rPr lang="en-US" sz="2000" b="1" dirty="0">
                <a:latin typeface="Times New Roman" panose="02020603050405020304" pitchFamily="18" charset="0"/>
                <a:cs typeface="Times New Roman" panose="02020603050405020304" pitchFamily="18" charset="0"/>
              </a:rPr>
              <a:t>of Randomization provides </a:t>
            </a:r>
            <a:r>
              <a:rPr lang="en-US" sz="2000" b="1" dirty="0" smtClean="0">
                <a:latin typeface="Times New Roman" panose="02020603050405020304" pitchFamily="18" charset="0"/>
                <a:cs typeface="Times New Roman" panose="02020603050405020304" pitchFamily="18" charset="0"/>
              </a:rPr>
              <a:t>protection against </a:t>
            </a:r>
            <a:r>
              <a:rPr lang="en-US" sz="2000" b="1" dirty="0">
                <a:latin typeface="Times New Roman" panose="02020603050405020304" pitchFamily="18" charset="0"/>
                <a:cs typeface="Times New Roman" panose="02020603050405020304" pitchFamily="18" charset="0"/>
              </a:rPr>
              <a:t>the effect of extraneous factors </a:t>
            </a:r>
            <a:r>
              <a:rPr lang="en-US" sz="2000" dirty="0" smtClean="0">
                <a:latin typeface="Times New Roman" panose="02020603050405020304" pitchFamily="18" charset="0"/>
                <a:cs typeface="Times New Roman" panose="02020603050405020304" pitchFamily="18" charset="0"/>
              </a:rPr>
              <a:t>using </a:t>
            </a:r>
            <a:r>
              <a:rPr lang="en-US" sz="2000" dirty="0">
                <a:latin typeface="Times New Roman" panose="02020603050405020304" pitchFamily="18" charset="0"/>
                <a:cs typeface="Times New Roman" panose="02020603050405020304" pitchFamily="18" charset="0"/>
              </a:rPr>
              <a:t>randomization</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instance, if we grow one variety of rice, say, in the first half of the parts of a field and the other variety is grown in the other half, then it is just possible that the soil fertility may be different in the first half in comparison to the other half</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If this is so, our results would not be realistic</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such a situation, we may assign the variety of rice to be grown in different parts of the field on the basis of some random sampling technique i.e., </a:t>
            </a:r>
            <a:r>
              <a:rPr lang="en-US" sz="2000" b="1" dirty="0">
                <a:latin typeface="Times New Roman" panose="02020603050405020304" pitchFamily="18" charset="0"/>
                <a:cs typeface="Times New Roman" panose="02020603050405020304" pitchFamily="18" charset="0"/>
              </a:rPr>
              <a:t>we may apply randomization principle and protect ourselves against the effects of the extraneous factors </a:t>
            </a:r>
            <a:r>
              <a:rPr lang="en-US" sz="2000" dirty="0">
                <a:latin typeface="Times New Roman" panose="02020603050405020304" pitchFamily="18" charset="0"/>
                <a:cs typeface="Times New Roman" panose="02020603050405020304" pitchFamily="18" charset="0"/>
              </a:rPr>
              <a:t>(soil fertility differences in the given case).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As </a:t>
            </a:r>
            <a:r>
              <a:rPr lang="en-US" sz="2000" dirty="0">
                <a:latin typeface="Times New Roman" panose="02020603050405020304" pitchFamily="18" charset="0"/>
                <a:cs typeface="Times New Roman" panose="02020603050405020304" pitchFamily="18" charset="0"/>
              </a:rPr>
              <a:t>such, through the application of the principle of randomization, we can have a better estimate of the experimental error.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1850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5774"/>
          </a:xfrm>
        </p:spPr>
        <p:txBody>
          <a:bodyPr>
            <a:normAutofit/>
          </a:bodyPr>
          <a:lstStyle/>
          <a:p>
            <a:pPr algn="ctr"/>
            <a:r>
              <a:rPr lang="en-US" sz="3600" b="1" dirty="0">
                <a:solidFill>
                  <a:srgbClr val="00B050"/>
                </a:solidFill>
                <a:latin typeface="Times New Roman" panose="02020603050405020304" pitchFamily="18" charset="0"/>
                <a:cs typeface="Times New Roman" panose="02020603050405020304" pitchFamily="18" charset="0"/>
              </a:rPr>
              <a:t>Principle of Local Control</a:t>
            </a:r>
            <a:endParaRPr lang="en-IN" sz="3600" b="1" dirty="0">
              <a:solidFill>
                <a:srgbClr val="00B050"/>
              </a:solidFill>
            </a:endParaRPr>
          </a:p>
        </p:txBody>
      </p:sp>
      <p:sp>
        <p:nvSpPr>
          <p:cNvPr id="3" name="Content Placeholder 2"/>
          <p:cNvSpPr>
            <a:spLocks noGrp="1"/>
          </p:cNvSpPr>
          <p:nvPr>
            <p:ph idx="1"/>
          </p:nvPr>
        </p:nvSpPr>
        <p:spPr>
          <a:xfrm>
            <a:off x="838200" y="1542821"/>
            <a:ext cx="10515600" cy="4351338"/>
          </a:xfrm>
        </p:spPr>
        <p:txBody>
          <a:bodyPr>
            <a:noAutofit/>
          </a:bodyPr>
          <a:lstStyle/>
          <a:p>
            <a:pPr algn="just"/>
            <a:r>
              <a:rPr lang="en-US" sz="2000" dirty="0">
                <a:latin typeface="Times New Roman" panose="02020603050405020304" pitchFamily="18" charset="0"/>
                <a:cs typeface="Times New Roman" panose="02020603050405020304" pitchFamily="18" charset="0"/>
              </a:rPr>
              <a:t>It has been observed that all extraneous sources of variation are not removed by randomization and replication</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 necessitates a refinement of the experimental technique.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other words, we need to choose a design in such a manner that all extraneous sources of variation are brought under control.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this purpose, we make use of </a:t>
            </a:r>
            <a:r>
              <a:rPr lang="en-US" sz="2000" b="1" dirty="0">
                <a:latin typeface="Times New Roman" panose="02020603050405020304" pitchFamily="18" charset="0"/>
                <a:cs typeface="Times New Roman" panose="02020603050405020304" pitchFamily="18" charset="0"/>
              </a:rPr>
              <a:t>local control, a term referring to the amount of balancing, blocking and grouping of the experimental units. </a:t>
            </a:r>
            <a:endParaRPr lang="en-US" sz="2000" b="1"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Balancing </a:t>
            </a:r>
            <a:r>
              <a:rPr lang="en-US" sz="2000" dirty="0">
                <a:latin typeface="Times New Roman" panose="02020603050405020304" pitchFamily="18" charset="0"/>
                <a:cs typeface="Times New Roman" panose="02020603050405020304" pitchFamily="18" charset="0"/>
              </a:rPr>
              <a:t>means that the treatments should </a:t>
            </a:r>
            <a:r>
              <a:rPr lang="en-US" sz="2000" dirty="0" smtClean="0">
                <a:latin typeface="Times New Roman" panose="02020603050405020304" pitchFamily="18" charset="0"/>
                <a:cs typeface="Times New Roman" panose="02020603050405020304" pitchFamily="18" charset="0"/>
              </a:rPr>
              <a:t>be </a:t>
            </a:r>
            <a:r>
              <a:rPr lang="en-US" sz="2000" dirty="0">
                <a:latin typeface="Times New Roman" panose="02020603050405020304" pitchFamily="18" charset="0"/>
                <a:cs typeface="Times New Roman" panose="02020603050405020304" pitchFamily="18" charset="0"/>
              </a:rPr>
              <a:t>assigned to the experimental units in such a way that the result is a balanced arrangement of the treatments.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Blocking </a:t>
            </a:r>
            <a:r>
              <a:rPr lang="en-US" sz="2000" dirty="0">
                <a:latin typeface="Times New Roman" panose="02020603050405020304" pitchFamily="18" charset="0"/>
                <a:cs typeface="Times New Roman" panose="02020603050405020304" pitchFamily="18" charset="0"/>
              </a:rPr>
              <a:t>means that like experimental units should be collected together to form a relatively homogeneous group</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main purpose of the principle of local control is to increase the efficiency of an experimental design by decreasing the experimental error.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3887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5333" y="732114"/>
            <a:ext cx="10515600" cy="5574417"/>
          </a:xfrm>
        </p:spPr>
        <p:txBody>
          <a:bodyPr>
            <a:normAutofit fontScale="85000" lnSpcReduction="10000"/>
          </a:bodyPr>
          <a:lstStyle/>
          <a:p>
            <a:pPr algn="just">
              <a:lnSpc>
                <a:spcPct val="120000"/>
              </a:lnSpc>
            </a:pPr>
            <a:r>
              <a:rPr lang="en-US" sz="2200" dirty="0">
                <a:latin typeface="Times New Roman" panose="02020603050405020304" pitchFamily="18" charset="0"/>
                <a:cs typeface="Times New Roman" panose="02020603050405020304" pitchFamily="18" charset="0"/>
              </a:rPr>
              <a:t>Under it the extraneous factor, the known source of variability, is made to vary deliberately </a:t>
            </a:r>
            <a:r>
              <a:rPr lang="en-US" sz="2200" dirty="0" smtClean="0">
                <a:latin typeface="Times New Roman" panose="02020603050405020304" pitchFamily="18" charset="0"/>
                <a:cs typeface="Times New Roman" panose="02020603050405020304" pitchFamily="18" charset="0"/>
              </a:rPr>
              <a:t>in </a:t>
            </a:r>
            <a:r>
              <a:rPr lang="en-US" sz="2200" dirty="0">
                <a:latin typeface="Times New Roman" panose="02020603050405020304" pitchFamily="18" charset="0"/>
                <a:cs typeface="Times New Roman" panose="02020603050405020304" pitchFamily="18" charset="0"/>
              </a:rPr>
              <a:t>such a way that the variability it causes can be measured and hence eliminated from the experimental error. </a:t>
            </a:r>
            <a:endParaRPr lang="en-US" sz="2200" dirty="0" smtClean="0">
              <a:latin typeface="Times New Roman" panose="02020603050405020304" pitchFamily="18" charset="0"/>
              <a:cs typeface="Times New Roman" panose="02020603050405020304" pitchFamily="18" charset="0"/>
            </a:endParaRPr>
          </a:p>
          <a:p>
            <a:pPr algn="just">
              <a:lnSpc>
                <a:spcPct val="120000"/>
              </a:lnSpc>
            </a:pP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means that we should plan the experiment in a manner that we can perform a two-way analysis of variance, in which the total variability of the data is divided into three components attributed to treatments (varieties of rice in our case), the extraneous factor (soil fertility in our case) and experimental error. </a:t>
            </a:r>
            <a:endParaRPr lang="en-US" sz="22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According </a:t>
            </a:r>
            <a:r>
              <a:rPr lang="en-US" sz="2000" dirty="0">
                <a:latin typeface="Times New Roman" panose="02020603050405020304" pitchFamily="18" charset="0"/>
                <a:cs typeface="Times New Roman" panose="02020603050405020304" pitchFamily="18" charset="0"/>
              </a:rPr>
              <a:t>to the principle of local control, </a:t>
            </a:r>
            <a:r>
              <a:rPr lang="en-US" sz="2000" b="1" dirty="0">
                <a:latin typeface="Times New Roman" panose="02020603050405020304" pitchFamily="18" charset="0"/>
                <a:cs typeface="Times New Roman" panose="02020603050405020304" pitchFamily="18" charset="0"/>
              </a:rPr>
              <a:t>we first divide the field into several homogeneous parts, known as blocks, and then each such block is divided into parts equal to the number of treatments</a:t>
            </a:r>
            <a:r>
              <a:rPr lang="en-US" sz="2000" b="1" dirty="0" smtClean="0">
                <a:latin typeface="Times New Roman" panose="02020603050405020304" pitchFamily="18" charset="0"/>
                <a:cs typeface="Times New Roman" panose="02020603050405020304" pitchFamily="18" charset="0"/>
              </a:rPr>
              <a:t>.</a:t>
            </a:r>
          </a:p>
          <a:p>
            <a:pPr algn="just">
              <a:lnSpc>
                <a:spcPct val="120000"/>
              </a:lnSpc>
            </a:pPr>
            <a:r>
              <a:rPr lang="en-US" sz="2000"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Then the treatments are randomly assigned to these parts of a block</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Dividing </a:t>
            </a:r>
            <a:r>
              <a:rPr lang="en-US" sz="2000" dirty="0">
                <a:latin typeface="Times New Roman" panose="02020603050405020304" pitchFamily="18" charset="0"/>
                <a:cs typeface="Times New Roman" panose="02020603050405020304" pitchFamily="18" charset="0"/>
              </a:rPr>
              <a:t>the field into several homogenous parts is known as ‘blocking</a:t>
            </a:r>
            <a:r>
              <a:rPr lang="en-US" sz="2000" dirty="0" smtClean="0">
                <a:latin typeface="Times New Roman" panose="02020603050405020304" pitchFamily="18" charset="0"/>
                <a:cs typeface="Times New Roman" panose="02020603050405020304" pitchFamily="18" charset="0"/>
              </a:rPr>
              <a:t>’.</a:t>
            </a:r>
          </a:p>
          <a:p>
            <a:pPr algn="just">
              <a:lnSpc>
                <a:spcPct val="12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general, blocks are the levels at which we hold an extraneous factor fixed, so that we can measure its contribution to the total variability of the data by means of a two-way analysis of variance.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brief, through the principle of local control we can eliminate the variability due to extraneous factor(s) from the experimental error.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950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18096" y="1696825"/>
            <a:ext cx="5337906" cy="3329118"/>
          </a:xfrm>
          <a:prstGeom prst="rect">
            <a:avLst/>
          </a:prstGeom>
        </p:spPr>
      </p:pic>
      <p:pic>
        <p:nvPicPr>
          <p:cNvPr id="5" name="Picture 4"/>
          <p:cNvPicPr>
            <a:picLocks noChangeAspect="1"/>
          </p:cNvPicPr>
          <p:nvPr/>
        </p:nvPicPr>
        <p:blipFill>
          <a:blip r:embed="rId3"/>
          <a:stretch>
            <a:fillRect/>
          </a:stretch>
        </p:blipFill>
        <p:spPr>
          <a:xfrm>
            <a:off x="7343480" y="1366886"/>
            <a:ext cx="3876254" cy="3846135"/>
          </a:xfrm>
          <a:prstGeom prst="rect">
            <a:avLst/>
          </a:prstGeom>
        </p:spPr>
      </p:pic>
    </p:spTree>
    <p:extLst>
      <p:ext uri="{BB962C8B-B14F-4D97-AF65-F5344CB8AC3E}">
        <p14:creationId xmlns:p14="http://schemas.microsoft.com/office/powerpoint/2010/main" val="25057728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89575" y="1470581"/>
            <a:ext cx="5495826" cy="4081806"/>
          </a:xfrm>
          <a:prstGeom prst="rect">
            <a:avLst/>
          </a:prstGeom>
        </p:spPr>
      </p:pic>
    </p:spTree>
    <p:extLst>
      <p:ext uri="{BB962C8B-B14F-4D97-AF65-F5344CB8AC3E}">
        <p14:creationId xmlns:p14="http://schemas.microsoft.com/office/powerpoint/2010/main" val="3331758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29938" y="1536570"/>
            <a:ext cx="3481320" cy="4091232"/>
          </a:xfrm>
          <a:prstGeom prst="rect">
            <a:avLst/>
          </a:prstGeom>
        </p:spPr>
      </p:pic>
      <p:pic>
        <p:nvPicPr>
          <p:cNvPr id="5" name="Picture 4"/>
          <p:cNvPicPr>
            <a:picLocks noChangeAspect="1"/>
          </p:cNvPicPr>
          <p:nvPr/>
        </p:nvPicPr>
        <p:blipFill>
          <a:blip r:embed="rId3"/>
          <a:stretch>
            <a:fillRect/>
          </a:stretch>
        </p:blipFill>
        <p:spPr>
          <a:xfrm>
            <a:off x="4336330" y="1536570"/>
            <a:ext cx="3424760" cy="4025245"/>
          </a:xfrm>
          <a:prstGeom prst="rect">
            <a:avLst/>
          </a:prstGeom>
        </p:spPr>
      </p:pic>
      <p:pic>
        <p:nvPicPr>
          <p:cNvPr id="6" name="Picture 5"/>
          <p:cNvPicPr>
            <a:picLocks noChangeAspect="1"/>
          </p:cNvPicPr>
          <p:nvPr/>
        </p:nvPicPr>
        <p:blipFill>
          <a:blip r:embed="rId4"/>
          <a:stretch>
            <a:fillRect/>
          </a:stretch>
        </p:blipFill>
        <p:spPr>
          <a:xfrm>
            <a:off x="8399284" y="1621411"/>
            <a:ext cx="3259044" cy="3827282"/>
          </a:xfrm>
          <a:prstGeom prst="rect">
            <a:avLst/>
          </a:prstGeom>
        </p:spPr>
      </p:pic>
    </p:spTree>
    <p:extLst>
      <p:ext uri="{BB962C8B-B14F-4D97-AF65-F5344CB8AC3E}">
        <p14:creationId xmlns:p14="http://schemas.microsoft.com/office/powerpoint/2010/main" val="38069002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10325" y="2215299"/>
            <a:ext cx="5122079" cy="2761916"/>
          </a:xfrm>
          <a:prstGeom prst="rect">
            <a:avLst/>
          </a:prstGeom>
        </p:spPr>
      </p:pic>
      <p:pic>
        <p:nvPicPr>
          <p:cNvPr id="5" name="Picture 4"/>
          <p:cNvPicPr>
            <a:picLocks noChangeAspect="1"/>
          </p:cNvPicPr>
          <p:nvPr/>
        </p:nvPicPr>
        <p:blipFill>
          <a:blip r:embed="rId3"/>
          <a:stretch>
            <a:fillRect/>
          </a:stretch>
        </p:blipFill>
        <p:spPr>
          <a:xfrm>
            <a:off x="7078354" y="1965420"/>
            <a:ext cx="3781324" cy="3525624"/>
          </a:xfrm>
          <a:prstGeom prst="rect">
            <a:avLst/>
          </a:prstGeom>
        </p:spPr>
      </p:pic>
    </p:spTree>
    <p:extLst>
      <p:ext uri="{BB962C8B-B14F-4D97-AF65-F5344CB8AC3E}">
        <p14:creationId xmlns:p14="http://schemas.microsoft.com/office/powerpoint/2010/main" val="18497264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224" y="0"/>
            <a:ext cx="10515600" cy="1325563"/>
          </a:xfrm>
        </p:spPr>
        <p:txBody>
          <a:bodyPr>
            <a:normAutofit/>
          </a:bodyPr>
          <a:lstStyle/>
          <a:p>
            <a:pPr algn="ctr"/>
            <a:r>
              <a:rPr lang="en-IN" sz="3600" b="1" i="1" dirty="0">
                <a:solidFill>
                  <a:srgbClr val="00B050"/>
                </a:solidFill>
                <a:latin typeface="Times New Roman" panose="02020603050405020304" pitchFamily="18" charset="0"/>
                <a:cs typeface="Times New Roman" panose="02020603050405020304" pitchFamily="18" charset="0"/>
              </a:rPr>
              <a:t>I</a:t>
            </a:r>
            <a:r>
              <a:rPr lang="en-IN" sz="3600" b="1" i="1" dirty="0" smtClean="0">
                <a:solidFill>
                  <a:srgbClr val="00B050"/>
                </a:solidFill>
                <a:latin typeface="Times New Roman" panose="02020603050405020304" pitchFamily="18" charset="0"/>
                <a:cs typeface="Times New Roman" panose="02020603050405020304" pitchFamily="18" charset="0"/>
              </a:rPr>
              <a:t>mportant </a:t>
            </a:r>
            <a:r>
              <a:rPr lang="en-IN" sz="3600" b="1" i="1" dirty="0">
                <a:solidFill>
                  <a:srgbClr val="00B050"/>
                </a:solidFill>
                <a:latin typeface="Times New Roman" panose="02020603050405020304" pitchFamily="18" charset="0"/>
                <a:cs typeface="Times New Roman" panose="02020603050405020304" pitchFamily="18" charset="0"/>
              </a:rPr>
              <a:t>Experimental Designs</a:t>
            </a:r>
            <a:endParaRPr lang="en-IN" sz="36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06224" y="1128040"/>
            <a:ext cx="10515600" cy="5729960"/>
          </a:xfrm>
        </p:spPr>
        <p:txBody>
          <a:bodyPr>
            <a:noAutofit/>
          </a:bodyPr>
          <a:lstStyle/>
          <a:p>
            <a:pPr algn="just"/>
            <a:r>
              <a:rPr lang="en-US" sz="2000" dirty="0">
                <a:latin typeface="Times New Roman" panose="02020603050405020304" pitchFamily="18" charset="0"/>
                <a:cs typeface="Times New Roman" panose="02020603050405020304" pitchFamily="18" charset="0"/>
              </a:rPr>
              <a:t>Experimental design refers to the framework or structure of an </a:t>
            </a:r>
            <a:r>
              <a:rPr lang="en-US" sz="2000" dirty="0" smtClean="0">
                <a:latin typeface="Times New Roman" panose="02020603050405020304" pitchFamily="18" charset="0"/>
                <a:cs typeface="Times New Roman" panose="02020603050405020304" pitchFamily="18" charset="0"/>
              </a:rPr>
              <a:t>experiment. </a:t>
            </a:r>
          </a:p>
          <a:p>
            <a:pPr algn="just"/>
            <a:r>
              <a:rPr lang="en-US" sz="2000" dirty="0" smtClean="0">
                <a:latin typeface="Times New Roman" panose="02020603050405020304" pitchFamily="18" charset="0"/>
                <a:cs typeface="Times New Roman" panose="02020603050405020304" pitchFamily="18" charset="0"/>
              </a:rPr>
              <a:t>We </a:t>
            </a:r>
            <a:r>
              <a:rPr lang="en-US" sz="2000" dirty="0">
                <a:latin typeface="Times New Roman" panose="02020603050405020304" pitchFamily="18" charset="0"/>
                <a:cs typeface="Times New Roman" panose="02020603050405020304" pitchFamily="18" charset="0"/>
              </a:rPr>
              <a:t>can classify experimental designs into two broad categories, viz., informal experimental designs and formal experimental designs. </a:t>
            </a:r>
            <a:endParaRPr lang="en-US" sz="2000" dirty="0" smtClean="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Informal </a:t>
            </a:r>
            <a:r>
              <a:rPr lang="en-US" sz="2000" b="1" dirty="0">
                <a:latin typeface="Times New Roman" panose="02020603050405020304" pitchFamily="18" charset="0"/>
                <a:cs typeface="Times New Roman" panose="02020603050405020304" pitchFamily="18" charset="0"/>
              </a:rPr>
              <a:t>experimental designs </a:t>
            </a:r>
            <a:r>
              <a:rPr lang="en-US" sz="2000" dirty="0">
                <a:latin typeface="Times New Roman" panose="02020603050405020304" pitchFamily="18" charset="0"/>
                <a:cs typeface="Times New Roman" panose="02020603050405020304" pitchFamily="18" charset="0"/>
              </a:rPr>
              <a:t>are those designs that normally use a </a:t>
            </a:r>
            <a:r>
              <a:rPr lang="en-US" sz="2000" b="1" dirty="0">
                <a:latin typeface="Times New Roman" panose="02020603050405020304" pitchFamily="18" charset="0"/>
                <a:cs typeface="Times New Roman" panose="02020603050405020304" pitchFamily="18" charset="0"/>
              </a:rPr>
              <a:t>less sophisticated form of analysis </a:t>
            </a:r>
            <a:r>
              <a:rPr lang="en-US" sz="2000" dirty="0">
                <a:latin typeface="Times New Roman" panose="02020603050405020304" pitchFamily="18" charset="0"/>
                <a:cs typeface="Times New Roman" panose="02020603050405020304" pitchFamily="18" charset="0"/>
              </a:rPr>
              <a:t>based on differences in magnitudes, whereas </a:t>
            </a:r>
            <a:r>
              <a:rPr lang="en-US" sz="2000" b="1" dirty="0">
                <a:latin typeface="Times New Roman" panose="02020603050405020304" pitchFamily="18" charset="0"/>
                <a:cs typeface="Times New Roman" panose="02020603050405020304" pitchFamily="18" charset="0"/>
              </a:rPr>
              <a:t>formal experimental designs </a:t>
            </a:r>
            <a:r>
              <a:rPr lang="en-US" sz="2000" dirty="0">
                <a:latin typeface="Times New Roman" panose="02020603050405020304" pitchFamily="18" charset="0"/>
                <a:cs typeface="Times New Roman" panose="02020603050405020304" pitchFamily="18" charset="0"/>
              </a:rPr>
              <a:t>offer relatively </a:t>
            </a:r>
            <a:r>
              <a:rPr lang="en-US" sz="2000" b="1" dirty="0">
                <a:latin typeface="Times New Roman" panose="02020603050405020304" pitchFamily="18" charset="0"/>
                <a:cs typeface="Times New Roman" panose="02020603050405020304" pitchFamily="18" charset="0"/>
              </a:rPr>
              <a:t>more control and use precise statistical procedures for analysis</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Important </a:t>
            </a:r>
            <a:r>
              <a:rPr lang="en-US" sz="2000" dirty="0">
                <a:latin typeface="Times New Roman" panose="02020603050405020304" pitchFamily="18" charset="0"/>
                <a:cs typeface="Times New Roman" panose="02020603050405020304" pitchFamily="18" charset="0"/>
              </a:rPr>
              <a:t>experiment designs are as follows:</a:t>
            </a:r>
          </a:p>
          <a:p>
            <a:pPr algn="just"/>
            <a:r>
              <a:rPr lang="en-US" sz="2000" dirty="0">
                <a:solidFill>
                  <a:srgbClr val="FF0000"/>
                </a:solidFill>
                <a:latin typeface="Times New Roman" panose="02020603050405020304" pitchFamily="18" charset="0"/>
                <a:cs typeface="Times New Roman" panose="02020603050405020304" pitchFamily="18" charset="0"/>
              </a:rPr>
              <a:t>Informal experimental designs:</a:t>
            </a:r>
          </a:p>
          <a:p>
            <a:pPr lvl="1" algn="just"/>
            <a:r>
              <a:rPr lang="en-US" sz="2000" dirty="0">
                <a:latin typeface="Times New Roman" panose="02020603050405020304" pitchFamily="18" charset="0"/>
                <a:cs typeface="Times New Roman" panose="02020603050405020304" pitchFamily="18" charset="0"/>
              </a:rPr>
              <a:t>Before-and-after without control design.</a:t>
            </a:r>
          </a:p>
          <a:p>
            <a:pPr lvl="1" algn="just"/>
            <a:r>
              <a:rPr lang="en-US" sz="2000" dirty="0">
                <a:latin typeface="Times New Roman" panose="02020603050405020304" pitchFamily="18" charset="0"/>
                <a:cs typeface="Times New Roman" panose="02020603050405020304" pitchFamily="18" charset="0"/>
              </a:rPr>
              <a:t>After-only with control design.</a:t>
            </a:r>
          </a:p>
          <a:p>
            <a:pPr lvl="1" algn="just"/>
            <a:r>
              <a:rPr lang="en-US" sz="2000" dirty="0">
                <a:latin typeface="Times New Roman" panose="02020603050405020304" pitchFamily="18" charset="0"/>
                <a:cs typeface="Times New Roman" panose="02020603050405020304" pitchFamily="18" charset="0"/>
              </a:rPr>
              <a:t>Before-and-after with control design.</a:t>
            </a:r>
          </a:p>
          <a:p>
            <a:pPr algn="just"/>
            <a:r>
              <a:rPr lang="en-US" sz="2000" dirty="0">
                <a:solidFill>
                  <a:srgbClr val="FF0000"/>
                </a:solidFill>
                <a:latin typeface="Times New Roman" panose="02020603050405020304" pitchFamily="18" charset="0"/>
                <a:cs typeface="Times New Roman" panose="02020603050405020304" pitchFamily="18" charset="0"/>
              </a:rPr>
              <a:t>Formal experimental designs:</a:t>
            </a:r>
          </a:p>
          <a:p>
            <a:pPr lvl="1" algn="just"/>
            <a:r>
              <a:rPr lang="en-US" sz="2000" dirty="0">
                <a:latin typeface="Times New Roman" panose="02020603050405020304" pitchFamily="18" charset="0"/>
                <a:cs typeface="Times New Roman" panose="02020603050405020304" pitchFamily="18" charset="0"/>
              </a:rPr>
              <a:t>Completely randomized design (C.R. Design).</a:t>
            </a:r>
          </a:p>
          <a:p>
            <a:pPr lvl="1" algn="just"/>
            <a:r>
              <a:rPr lang="en-US" sz="2000" dirty="0">
                <a:latin typeface="Times New Roman" panose="02020603050405020304" pitchFamily="18" charset="0"/>
                <a:cs typeface="Times New Roman" panose="02020603050405020304" pitchFamily="18" charset="0"/>
              </a:rPr>
              <a:t>Randomized block design (R.B. Design).</a:t>
            </a:r>
          </a:p>
          <a:p>
            <a:pPr lvl="1" algn="just"/>
            <a:r>
              <a:rPr lang="en-US" sz="2000" dirty="0">
                <a:latin typeface="Times New Roman" panose="02020603050405020304" pitchFamily="18" charset="0"/>
                <a:cs typeface="Times New Roman" panose="02020603050405020304" pitchFamily="18" charset="0"/>
              </a:rPr>
              <a:t>Latin square design (L.S. Design).</a:t>
            </a:r>
          </a:p>
          <a:p>
            <a:pPr lvl="1" algn="just"/>
            <a:r>
              <a:rPr lang="en-US" sz="2000" dirty="0">
                <a:latin typeface="Times New Roman" panose="02020603050405020304" pitchFamily="18" charset="0"/>
                <a:cs typeface="Times New Roman" panose="02020603050405020304" pitchFamily="18" charset="0"/>
              </a:rPr>
              <a:t>Factorial designs.</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724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00B050"/>
                </a:solidFill>
                <a:latin typeface="Times New Roman" panose="02020603050405020304" pitchFamily="18" charset="0"/>
                <a:cs typeface="Times New Roman" panose="02020603050405020304" pitchFamily="18" charset="0"/>
              </a:rPr>
              <a:t>Informal experimental designs:</a:t>
            </a:r>
            <a:br>
              <a:rPr lang="en-US" sz="3600" b="1" dirty="0">
                <a:solidFill>
                  <a:srgbClr val="00B050"/>
                </a:solidFill>
                <a:latin typeface="Times New Roman" panose="02020603050405020304" pitchFamily="18" charset="0"/>
                <a:cs typeface="Times New Roman" panose="02020603050405020304" pitchFamily="18" charset="0"/>
              </a:rPr>
            </a:br>
            <a:endParaRPr lang="en-IN" sz="3600" b="1" dirty="0">
              <a:solidFill>
                <a:srgbClr val="00B050"/>
              </a:solidFill>
            </a:endParaRPr>
          </a:p>
        </p:txBody>
      </p:sp>
      <p:sp>
        <p:nvSpPr>
          <p:cNvPr id="3" name="Content Placeholder 2"/>
          <p:cNvSpPr>
            <a:spLocks noGrp="1"/>
          </p:cNvSpPr>
          <p:nvPr>
            <p:ph idx="1"/>
          </p:nvPr>
        </p:nvSpPr>
        <p:spPr/>
        <p:txBody>
          <a:bodyPr>
            <a:normAutofit/>
          </a:bodyPr>
          <a:lstStyle/>
          <a:p>
            <a:pPr lvl="1" algn="just"/>
            <a:r>
              <a:rPr lang="en-US" dirty="0">
                <a:latin typeface="Times New Roman" panose="02020603050405020304" pitchFamily="18" charset="0"/>
                <a:cs typeface="Times New Roman" panose="02020603050405020304" pitchFamily="18" charset="0"/>
              </a:rPr>
              <a:t>Before-and-after without control design.</a:t>
            </a:r>
          </a:p>
          <a:p>
            <a:pPr lvl="1" algn="just"/>
            <a:r>
              <a:rPr lang="en-US" dirty="0">
                <a:latin typeface="Times New Roman" panose="02020603050405020304" pitchFamily="18" charset="0"/>
                <a:cs typeface="Times New Roman" panose="02020603050405020304" pitchFamily="18" charset="0"/>
              </a:rPr>
              <a:t>After-only with control design.</a:t>
            </a:r>
          </a:p>
          <a:p>
            <a:pPr lvl="1" algn="just"/>
            <a:r>
              <a:rPr lang="en-US" dirty="0">
                <a:latin typeface="Times New Roman" panose="02020603050405020304" pitchFamily="18" charset="0"/>
                <a:cs typeface="Times New Roman" panose="02020603050405020304" pitchFamily="18" charset="0"/>
              </a:rPr>
              <a:t>Before-and-after with control design.</a:t>
            </a:r>
            <a:endParaRPr lang="en-IN" sz="2800" dirty="0"/>
          </a:p>
        </p:txBody>
      </p:sp>
    </p:spTree>
    <p:extLst>
      <p:ext uri="{BB962C8B-B14F-4D97-AF65-F5344CB8AC3E}">
        <p14:creationId xmlns:p14="http://schemas.microsoft.com/office/powerpoint/2010/main" val="16844136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solidFill>
                  <a:srgbClr val="00B050"/>
                </a:solidFill>
                <a:latin typeface="Times New Roman" panose="02020603050405020304" pitchFamily="18" charset="0"/>
                <a:cs typeface="Times New Roman" panose="02020603050405020304" pitchFamily="18" charset="0"/>
              </a:rPr>
              <a:t>Before-and-after without control design:</a:t>
            </a:r>
            <a:r>
              <a:rPr lang="en-US" dirty="0">
                <a:solidFill>
                  <a:srgbClr val="00B050"/>
                </a:solidFill>
                <a:latin typeface="Times New Roman" panose="02020603050405020304" pitchFamily="18" charset="0"/>
                <a:cs typeface="Times New Roman" panose="02020603050405020304" pitchFamily="18" charset="0"/>
              </a:rPr>
              <a:t> </a:t>
            </a:r>
            <a:endParaRPr lang="en-IN" dirty="0">
              <a:solidFill>
                <a:srgbClr val="00B050"/>
              </a:solidFill>
            </a:endParaRPr>
          </a:p>
        </p:txBody>
      </p:sp>
      <p:sp>
        <p:nvSpPr>
          <p:cNvPr id="3" name="Content Placeholder 2"/>
          <p:cNvSpPr>
            <a:spLocks noGrp="1"/>
          </p:cNvSpPr>
          <p:nvPr>
            <p:ph idx="1"/>
          </p:nvPr>
        </p:nvSpPr>
        <p:spPr>
          <a:xfrm>
            <a:off x="838200" y="1872759"/>
            <a:ext cx="10515600" cy="4351338"/>
          </a:xfrm>
        </p:spPr>
        <p:txBody>
          <a:bodyPr>
            <a:normAutofit/>
          </a:bodyPr>
          <a:lstStyle/>
          <a:p>
            <a:pPr algn="just"/>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such a design a single test group or area is selected and the dependent variable is measured before the introduction of the treatment. The treatment is then introduced and the dependent variable is measured again after the treatment has been introduced. The effect of the treatment would be equal to the level of the phenomenon after the treatment minus the level of the phenomenon before the treatment. The design can be represented thus:</a:t>
            </a:r>
            <a:endParaRPr lang="en-IN" sz="2000" dirty="0">
              <a:latin typeface="Times New Roman" panose="02020603050405020304" pitchFamily="18" charset="0"/>
              <a:cs typeface="Times New Roman" panose="02020603050405020304" pitchFamily="18" charset="0"/>
            </a:endParaRPr>
          </a:p>
        </p:txBody>
      </p:sp>
      <p:pic>
        <p:nvPicPr>
          <p:cNvPr id="1026" name="Picture 2" descr="Before-and-after without control desig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6366" y="3586465"/>
            <a:ext cx="4838700" cy="124476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944218" y="5013300"/>
            <a:ext cx="10071651" cy="707886"/>
          </a:xfrm>
          <a:prstGeom prst="rect">
            <a:avLst/>
          </a:prstGeom>
        </p:spPr>
        <p:txBody>
          <a:bodyPr wrap="square">
            <a:spAutoFit/>
          </a:bodyPr>
          <a:lstStyle/>
          <a:p>
            <a:pPr marL="342900" indent="-342900">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main difficulty of such a design is that with the passage of time considerable extraneous variations may be there in its treatment effect.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5368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722"/>
            <a:ext cx="10515600" cy="1325563"/>
          </a:xfrm>
        </p:spPr>
        <p:txBody>
          <a:bodyPr>
            <a:normAutofit/>
          </a:bodyPr>
          <a:lstStyle/>
          <a:p>
            <a:pPr algn="ctr"/>
            <a:r>
              <a:rPr lang="en-US" sz="4000" b="1" dirty="0">
                <a:solidFill>
                  <a:srgbClr val="00B050"/>
                </a:solidFill>
                <a:latin typeface="Times New Roman" panose="02020603050405020304" pitchFamily="18" charset="0"/>
                <a:cs typeface="Times New Roman" panose="02020603050405020304" pitchFamily="18" charset="0"/>
              </a:rPr>
              <a:t>After-only with control design:</a:t>
            </a:r>
            <a:endParaRPr lang="en-IN" sz="40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2625" y="1566747"/>
            <a:ext cx="10515600" cy="4351338"/>
          </a:xfrm>
        </p:spPr>
        <p:txBody>
          <a:bodyPr/>
          <a:lstStyle/>
          <a:p>
            <a:pPr algn="just"/>
            <a:r>
              <a:rPr lang="en-US" dirty="0"/>
              <a:t> </a:t>
            </a:r>
            <a:r>
              <a:rPr lang="en-US" sz="2000" dirty="0">
                <a:latin typeface="Times New Roman" panose="02020603050405020304" pitchFamily="18" charset="0"/>
                <a:cs typeface="Times New Roman" panose="02020603050405020304" pitchFamily="18" charset="0"/>
              </a:rPr>
              <a:t>In this design two groups or areas (test area and control area) are selected and the treatment is introduced into the test area only. The dependent variable is then measured in both the areas at the same time. Treatment impact is assessed by subtracting the value of the dependent variable in the control area from its value in the test area. This can be exhibited in the following form:</a:t>
            </a:r>
            <a:endParaRPr lang="en-IN" sz="2000" dirty="0">
              <a:latin typeface="Times New Roman" panose="02020603050405020304" pitchFamily="18" charset="0"/>
              <a:cs typeface="Times New Roman" panose="02020603050405020304" pitchFamily="18" charset="0"/>
            </a:endParaRPr>
          </a:p>
        </p:txBody>
      </p:sp>
      <p:pic>
        <p:nvPicPr>
          <p:cNvPr id="2050" name="Picture 2" descr="After-only with control desig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0487" y="3049414"/>
            <a:ext cx="4391025" cy="138600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82625" y="4640999"/>
            <a:ext cx="10515600" cy="1631216"/>
          </a:xfrm>
          <a:prstGeom prst="rect">
            <a:avLst/>
          </a:prstGeom>
        </p:spPr>
        <p:txBody>
          <a:bodyPr wrap="square">
            <a:spAutoFit/>
          </a:bodyPr>
          <a:lstStyle/>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basic assumption in such a design is that the two areas are identical with respect to their </a:t>
            </a:r>
            <a:r>
              <a:rPr lang="en-US" sz="2000" dirty="0" err="1">
                <a:solidFill>
                  <a:srgbClr val="000000"/>
                </a:solidFill>
                <a:latin typeface="Times New Roman" panose="02020603050405020304" pitchFamily="18" charset="0"/>
                <a:cs typeface="Times New Roman" panose="02020603050405020304" pitchFamily="18" charset="0"/>
              </a:rPr>
              <a:t>behaviour</a:t>
            </a:r>
            <a:r>
              <a:rPr lang="en-US" sz="2000" dirty="0">
                <a:solidFill>
                  <a:srgbClr val="000000"/>
                </a:solidFill>
                <a:latin typeface="Times New Roman" panose="02020603050405020304" pitchFamily="18" charset="0"/>
                <a:cs typeface="Times New Roman" panose="02020603050405020304" pitchFamily="18" charset="0"/>
              </a:rPr>
              <a:t> towards the phenomenon considered. If this assumption is not true, there is the possibility of extraneous variation entering into the treatment effect. However, data can be collected in such a design without the introduction of problems with the passage of time. In this respect the design is superior to before-and-after without control design</a:t>
            </a:r>
            <a:r>
              <a:rPr lang="en-US" dirty="0">
                <a:solidFill>
                  <a:srgbClr val="000000"/>
                </a:solidFill>
                <a:latin typeface="Roboto"/>
              </a:rPr>
              <a:t>.</a:t>
            </a:r>
            <a:endParaRPr lang="en-IN" dirty="0"/>
          </a:p>
        </p:txBody>
      </p:sp>
    </p:spTree>
    <p:extLst>
      <p:ext uri="{BB962C8B-B14F-4D97-AF65-F5344CB8AC3E}">
        <p14:creationId xmlns:p14="http://schemas.microsoft.com/office/powerpoint/2010/main" val="3640430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algn="ctr"/>
            <a:r>
              <a:rPr lang="en-US" sz="4000" b="1" dirty="0">
                <a:solidFill>
                  <a:srgbClr val="00B050"/>
                </a:solidFill>
                <a:latin typeface="Times New Roman" panose="02020603050405020304" pitchFamily="18" charset="0"/>
                <a:cs typeface="Times New Roman" panose="02020603050405020304" pitchFamily="18" charset="0"/>
              </a:rPr>
              <a:t>Before-and-after with control design:</a:t>
            </a:r>
            <a:endParaRPr lang="en-IN" sz="4000" dirty="0">
              <a:solidFill>
                <a:srgbClr val="00B050"/>
              </a:solidFill>
            </a:endParaRPr>
          </a:p>
        </p:txBody>
      </p:sp>
      <p:sp>
        <p:nvSpPr>
          <p:cNvPr id="3" name="Content Placeholder 2"/>
          <p:cNvSpPr>
            <a:spLocks noGrp="1"/>
          </p:cNvSpPr>
          <p:nvPr>
            <p:ph idx="1"/>
          </p:nvPr>
        </p:nvSpPr>
        <p:spPr>
          <a:xfrm>
            <a:off x="838200" y="1467816"/>
            <a:ext cx="10515600"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 In this design two areas are selected and the dependent variable is measured in both the areas for an identical time-period before the treatment. The treatment is then introduced into the test area only, and the dependent variable is measured in both for an identical time-period after the introduction of the treatment. The treatment effect is determined by subtracting the change in the dependent variable in the control area from the change in the dependent variable in test area. This design can be shown in this way:</a:t>
            </a:r>
            <a:endParaRPr lang="en-IN" sz="2000" dirty="0">
              <a:latin typeface="Times New Roman" panose="02020603050405020304" pitchFamily="18" charset="0"/>
              <a:cs typeface="Times New Roman" panose="02020603050405020304" pitchFamily="18" charset="0"/>
            </a:endParaRPr>
          </a:p>
        </p:txBody>
      </p:sp>
      <p:pic>
        <p:nvPicPr>
          <p:cNvPr id="3074" name="Picture 2" descr="before and after with control desig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4697" y="3297099"/>
            <a:ext cx="4610100" cy="15430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8200" y="4899707"/>
            <a:ext cx="10515600" cy="1323439"/>
          </a:xfrm>
          <a:prstGeom prst="rect">
            <a:avLst/>
          </a:prstGeom>
        </p:spPr>
        <p:txBody>
          <a:bodyPr wrap="square">
            <a:spAutoFit/>
          </a:bodyPr>
          <a:lstStyle/>
          <a:p>
            <a:pPr marL="285750" indent="-28575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This design is superior to the above two designs for the simple reason that it avoids extraneous variation resulting both from the passage of time and from non-comparability of the test and control areas. But at times, due to lack of historical data, time or a comparable control area, we should prefer to select one of the first two informal designs stated above.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38284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solidFill>
                  <a:srgbClr val="00B050"/>
                </a:solidFill>
                <a:latin typeface="Times New Roman" panose="02020603050405020304" pitchFamily="18" charset="0"/>
                <a:cs typeface="Times New Roman" panose="02020603050405020304" pitchFamily="18" charset="0"/>
              </a:rPr>
              <a:t>Formal experimental designs</a:t>
            </a:r>
          </a:p>
        </p:txBody>
      </p:sp>
      <p:sp>
        <p:nvSpPr>
          <p:cNvPr id="3" name="Content Placeholder 2"/>
          <p:cNvSpPr>
            <a:spLocks noGrp="1"/>
          </p:cNvSpPr>
          <p:nvPr>
            <p:ph idx="1"/>
          </p:nvPr>
        </p:nvSpPr>
        <p:spPr/>
        <p:txBody>
          <a:bodyPr>
            <a:normAutofit/>
          </a:bodyPr>
          <a:lstStyle/>
          <a:p>
            <a:pPr lvl="1" algn="just"/>
            <a:r>
              <a:rPr lang="en-US" dirty="0">
                <a:latin typeface="Times New Roman" panose="02020603050405020304" pitchFamily="18" charset="0"/>
                <a:cs typeface="Times New Roman" panose="02020603050405020304" pitchFamily="18" charset="0"/>
              </a:rPr>
              <a:t>Completely randomized design (C.R. Design).</a:t>
            </a:r>
          </a:p>
          <a:p>
            <a:pPr lvl="1" algn="just"/>
            <a:r>
              <a:rPr lang="en-US" dirty="0">
                <a:latin typeface="Times New Roman" panose="02020603050405020304" pitchFamily="18" charset="0"/>
                <a:cs typeface="Times New Roman" panose="02020603050405020304" pitchFamily="18" charset="0"/>
              </a:rPr>
              <a:t>Randomized block design (R.B. Design).</a:t>
            </a:r>
          </a:p>
          <a:p>
            <a:pPr lvl="1" algn="just"/>
            <a:r>
              <a:rPr lang="en-US" dirty="0">
                <a:latin typeface="Times New Roman" panose="02020603050405020304" pitchFamily="18" charset="0"/>
                <a:cs typeface="Times New Roman" panose="02020603050405020304" pitchFamily="18" charset="0"/>
              </a:rPr>
              <a:t>Latin square design (L.S. Design).</a:t>
            </a:r>
          </a:p>
          <a:p>
            <a:pPr lvl="1" algn="just"/>
            <a:r>
              <a:rPr lang="en-US" dirty="0">
                <a:latin typeface="Times New Roman" panose="02020603050405020304" pitchFamily="18" charset="0"/>
                <a:cs typeface="Times New Roman" panose="02020603050405020304" pitchFamily="18" charset="0"/>
              </a:rPr>
              <a:t>Factorial designs.</a:t>
            </a:r>
          </a:p>
          <a:p>
            <a:endParaRPr lang="en-IN" sz="3200" dirty="0"/>
          </a:p>
        </p:txBody>
      </p:sp>
    </p:spTree>
    <p:extLst>
      <p:ext uri="{BB962C8B-B14F-4D97-AF65-F5344CB8AC3E}">
        <p14:creationId xmlns:p14="http://schemas.microsoft.com/office/powerpoint/2010/main" val="12758225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lnSpc>
                <a:spcPct val="90000"/>
              </a:lnSpc>
              <a:spcBef>
                <a:spcPct val="0"/>
              </a:spcBef>
            </a:pPr>
            <a:r>
              <a:rPr lang="en-US" sz="3600" b="1" dirty="0" smtClean="0">
                <a:solidFill>
                  <a:srgbClr val="00B050"/>
                </a:solidFill>
                <a:latin typeface="Times New Roman" panose="02020603050405020304" pitchFamily="18" charset="0"/>
                <a:cs typeface="Times New Roman" panose="02020603050405020304" pitchFamily="18" charset="0"/>
              </a:rPr>
              <a:t>Completely randomized design (C.R. Design).</a:t>
            </a:r>
            <a:br>
              <a:rPr lang="en-US" sz="3600" b="1" dirty="0" smtClean="0">
                <a:solidFill>
                  <a:srgbClr val="00B050"/>
                </a:solidFill>
                <a:latin typeface="Times New Roman" panose="02020603050405020304" pitchFamily="18" charset="0"/>
                <a:cs typeface="Times New Roman" panose="02020603050405020304" pitchFamily="18" charset="0"/>
              </a:rPr>
            </a:br>
            <a:endParaRPr lang="en-IN" sz="3600" b="1" dirty="0">
              <a:solidFill>
                <a:srgbClr val="00B050"/>
              </a:solidFill>
            </a:endParaRPr>
          </a:p>
        </p:txBody>
      </p:sp>
      <p:sp>
        <p:nvSpPr>
          <p:cNvPr id="3" name="Content Placeholder 2"/>
          <p:cNvSpPr>
            <a:spLocks noGrp="1"/>
          </p:cNvSpPr>
          <p:nvPr>
            <p:ph idx="1"/>
          </p:nvPr>
        </p:nvSpPr>
        <p:spPr>
          <a:xfrm>
            <a:off x="838200" y="1910467"/>
            <a:ext cx="10515600"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 Involves only two principles viz., the principle of replication and the principle of randomization of experimental designs</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 is the simplest possible design and its procedure of analysis is also easier. The essential characteristic of the design is that subjects are randomly assigned to experimental </a:t>
            </a:r>
            <a:r>
              <a:rPr lang="en-US" sz="2000" dirty="0" smtClean="0">
                <a:latin typeface="Times New Roman" panose="02020603050405020304" pitchFamily="18" charset="0"/>
                <a:cs typeface="Times New Roman" panose="02020603050405020304" pitchFamily="18" charset="0"/>
              </a:rPr>
              <a:t>treatments.</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 instance, if we have 10 subjects and if we wish to test 5 under treatment A and 5 under treatment B, the randomization process gives every possible group of 5 subjects selected from a set of 10 an equal opportunity of being assigned to treatment A and treatment B.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One-way </a:t>
            </a:r>
            <a:r>
              <a:rPr lang="en-US" sz="2000" dirty="0">
                <a:latin typeface="Times New Roman" panose="02020603050405020304" pitchFamily="18" charset="0"/>
                <a:cs typeface="Times New Roman" panose="02020603050405020304" pitchFamily="18" charset="0"/>
              </a:rPr>
              <a:t>analysis of variance (or one-way ANOVA) is used to </a:t>
            </a:r>
            <a:r>
              <a:rPr lang="en-US" sz="2000" dirty="0" err="1">
                <a:latin typeface="Times New Roman" panose="02020603050405020304" pitchFamily="18" charset="0"/>
                <a:cs typeface="Times New Roman" panose="02020603050405020304" pitchFamily="18" charset="0"/>
              </a:rPr>
              <a:t>analyse</a:t>
            </a:r>
            <a:r>
              <a:rPr lang="en-US" sz="2000" dirty="0">
                <a:latin typeface="Times New Roman" panose="02020603050405020304" pitchFamily="18" charset="0"/>
                <a:cs typeface="Times New Roman" panose="02020603050405020304" pitchFamily="18" charset="0"/>
              </a:rPr>
              <a:t> such a design.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It </a:t>
            </a:r>
            <a:r>
              <a:rPr lang="en-US" sz="2000" dirty="0">
                <a:latin typeface="Times New Roman" panose="02020603050405020304" pitchFamily="18" charset="0"/>
                <a:cs typeface="Times New Roman" panose="02020603050405020304" pitchFamily="18" charset="0"/>
              </a:rPr>
              <a:t>provides maximum number of degrees of freedom to the error. Such a design is generally used when experimental areas happen to be homogeneous.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3378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053" y="264360"/>
            <a:ext cx="10515600" cy="5504844"/>
          </a:xfrm>
        </p:spPr>
        <p:txBody>
          <a:bodyPr>
            <a:normAutofit/>
          </a:bodyPr>
          <a:lstStyle/>
          <a:p>
            <a:pPr algn="just"/>
            <a:r>
              <a:rPr lang="en-US" sz="2000" dirty="0">
                <a:latin typeface="Times New Roman" panose="02020603050405020304" pitchFamily="18" charset="0"/>
                <a:cs typeface="Times New Roman" panose="02020603050405020304" pitchFamily="18" charset="0"/>
              </a:rPr>
              <a:t>We can present a brief description of the </a:t>
            </a:r>
            <a:r>
              <a:rPr lang="en-US" sz="2000" dirty="0">
                <a:solidFill>
                  <a:srgbClr val="FF0000"/>
                </a:solidFill>
                <a:latin typeface="Times New Roman" panose="02020603050405020304" pitchFamily="18" charset="0"/>
                <a:cs typeface="Times New Roman" panose="02020603050405020304" pitchFamily="18" charset="0"/>
              </a:rPr>
              <a:t>two forms of such a design </a:t>
            </a:r>
            <a:r>
              <a:rPr lang="en-US" sz="2000" dirty="0">
                <a:latin typeface="Times New Roman" panose="02020603050405020304" pitchFamily="18" charset="0"/>
                <a:cs typeface="Times New Roman" panose="02020603050405020304" pitchFamily="18" charset="0"/>
              </a:rPr>
              <a:t>as given </a:t>
            </a: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figure.</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dirty="0" smtClean="0">
                <a:solidFill>
                  <a:srgbClr val="FF0000"/>
                </a:solidFill>
                <a:latin typeface="Times New Roman" panose="02020603050405020304" pitchFamily="18" charset="0"/>
                <a:cs typeface="Times New Roman" panose="02020603050405020304" pitchFamily="18" charset="0"/>
              </a:rPr>
              <a:t>Two-group </a:t>
            </a:r>
            <a:r>
              <a:rPr lang="en-US" sz="2000" dirty="0">
                <a:solidFill>
                  <a:srgbClr val="FF0000"/>
                </a:solidFill>
                <a:latin typeface="Times New Roman" panose="02020603050405020304" pitchFamily="18" charset="0"/>
                <a:cs typeface="Times New Roman" panose="02020603050405020304" pitchFamily="18" charset="0"/>
              </a:rPr>
              <a:t>simple randomized design</a:t>
            </a:r>
            <a:r>
              <a:rPr lang="en-US" sz="2000" dirty="0">
                <a:latin typeface="Times New Roman" panose="02020603050405020304" pitchFamily="18" charset="0"/>
                <a:cs typeface="Times New Roman" panose="02020603050405020304" pitchFamily="18" charset="0"/>
              </a:rPr>
              <a:t>: In a two-group simple randomized design, first of all the population is defined and then from the population a sample is selected randomly. </a:t>
            </a:r>
            <a:endParaRPr lang="en-US" sz="2000" dirty="0" smtClean="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a:t>
            </a:r>
            <a:r>
              <a:rPr lang="en-US" sz="2000" dirty="0" smtClean="0">
                <a:latin typeface="Times New Roman" panose="02020603050405020304" pitchFamily="18" charset="0"/>
                <a:cs typeface="Times New Roman" panose="02020603050405020304" pitchFamily="18" charset="0"/>
              </a:rPr>
              <a:t>fter </a:t>
            </a:r>
            <a:r>
              <a:rPr lang="en-US" sz="2000" dirty="0">
                <a:latin typeface="Times New Roman" panose="02020603050405020304" pitchFamily="18" charset="0"/>
                <a:cs typeface="Times New Roman" panose="02020603050405020304" pitchFamily="18" charset="0"/>
              </a:rPr>
              <a:t>being selected randomly from the population, be randomly assigned to the experimental and control groups (Such random assignment of items to two groups is technically described as principle of randomization</a:t>
            </a:r>
            <a:r>
              <a:rPr lang="en-US" sz="2000" dirty="0" smtClean="0">
                <a:latin typeface="Times New Roman" panose="02020603050405020304" pitchFamily="18" charset="0"/>
                <a:cs typeface="Times New Roman" panose="02020603050405020304" pitchFamily="18" charset="0"/>
              </a:rPr>
              <a:t>).</a:t>
            </a:r>
          </a:p>
          <a:p>
            <a:pPr algn="just"/>
            <a:r>
              <a:rPr lang="en-US" sz="2000" dirty="0" smtClean="0">
                <a:latin typeface="Times New Roman" panose="02020603050405020304" pitchFamily="18" charset="0"/>
                <a:cs typeface="Times New Roman" panose="02020603050405020304" pitchFamily="18" charset="0"/>
              </a:rPr>
              <a:t>Thus</a:t>
            </a:r>
            <a:r>
              <a:rPr lang="en-US" sz="2000" dirty="0">
                <a:latin typeface="Times New Roman" panose="02020603050405020304" pitchFamily="18" charset="0"/>
                <a:cs typeface="Times New Roman" panose="02020603050405020304" pitchFamily="18" charset="0"/>
              </a:rPr>
              <a:t>, this design yields two groups as representatives of the population. </a:t>
            </a:r>
            <a:endParaRPr lang="en-IN"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344650" y="692485"/>
            <a:ext cx="5238750" cy="2047875"/>
          </a:xfrm>
          <a:prstGeom prst="rect">
            <a:avLst/>
          </a:prstGeom>
        </p:spPr>
      </p:pic>
      <p:sp>
        <p:nvSpPr>
          <p:cNvPr id="5" name="Rectangle 4"/>
          <p:cNvSpPr/>
          <p:nvPr/>
        </p:nvSpPr>
        <p:spPr>
          <a:xfrm>
            <a:off x="3066853" y="2740360"/>
            <a:ext cx="6096000" cy="646331"/>
          </a:xfrm>
          <a:prstGeom prst="rect">
            <a:avLst/>
          </a:prstGeom>
        </p:spPr>
        <p:txBody>
          <a:bodyPr>
            <a:spAutoFit/>
          </a:bodyPr>
          <a:lstStyle/>
          <a:p>
            <a:pPr algn="ctr"/>
            <a:r>
              <a:rPr lang="en-US" b="1" i="1" dirty="0">
                <a:solidFill>
                  <a:srgbClr val="000000"/>
                </a:solidFill>
                <a:latin typeface="Times New Roman" panose="02020603050405020304" pitchFamily="18" charset="0"/>
                <a:cs typeface="Times New Roman" panose="02020603050405020304" pitchFamily="18" charset="0"/>
              </a:rPr>
              <a:t>Two-group simple randomized experimental design (in diagram form)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78452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5651" y="113121"/>
            <a:ext cx="10515600" cy="7107810"/>
          </a:xfrm>
        </p:spPr>
        <p:txBody>
          <a:bodyPr>
            <a:noAutofit/>
          </a:bodyPr>
          <a:lstStyle/>
          <a:p>
            <a:pPr algn="just">
              <a:lnSpc>
                <a:spcPct val="100000"/>
              </a:lnSpc>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two groups (experimental and control groups) of such a design are given different treatments of the independent variable. </a:t>
            </a:r>
            <a:endParaRPr lang="en-US" sz="1800" dirty="0" smtClean="0">
              <a:latin typeface="Times New Roman" panose="02020603050405020304" pitchFamily="18" charset="0"/>
              <a:cs typeface="Times New Roman" panose="02020603050405020304" pitchFamily="18" charset="0"/>
            </a:endParaRPr>
          </a:p>
          <a:p>
            <a:pPr algn="just">
              <a:lnSpc>
                <a:spcPct val="100000"/>
              </a:lnSpc>
            </a:pPr>
            <a:r>
              <a:rPr lang="en-US" sz="1800" dirty="0" smtClean="0">
                <a:latin typeface="Times New Roman" panose="02020603050405020304" pitchFamily="18" charset="0"/>
                <a:cs typeface="Times New Roman" panose="02020603050405020304" pitchFamily="18" charset="0"/>
              </a:rPr>
              <a:t>This </a:t>
            </a:r>
            <a:r>
              <a:rPr lang="en-US" sz="1800" dirty="0">
                <a:latin typeface="Times New Roman" panose="02020603050405020304" pitchFamily="18" charset="0"/>
                <a:cs typeface="Times New Roman" panose="02020603050405020304" pitchFamily="18" charset="0"/>
              </a:rPr>
              <a:t>design of experiment is quite common in research studies concerning </a:t>
            </a:r>
            <a:r>
              <a:rPr lang="en-US" sz="1800" dirty="0" err="1">
                <a:latin typeface="Times New Roman" panose="02020603050405020304" pitchFamily="18" charset="0"/>
                <a:cs typeface="Times New Roman" panose="02020603050405020304" pitchFamily="18" charset="0"/>
              </a:rPr>
              <a:t>behavioural</a:t>
            </a:r>
            <a:r>
              <a:rPr lang="en-US" sz="1800" dirty="0">
                <a:latin typeface="Times New Roman" panose="02020603050405020304" pitchFamily="18" charset="0"/>
                <a:cs typeface="Times New Roman" panose="02020603050405020304" pitchFamily="18" charset="0"/>
              </a:rPr>
              <a:t> sciences. </a:t>
            </a:r>
            <a:endParaRPr lang="en-US" sz="1800" dirty="0" smtClean="0">
              <a:latin typeface="Times New Roman" panose="02020603050405020304" pitchFamily="18" charset="0"/>
              <a:cs typeface="Times New Roman" panose="02020603050405020304" pitchFamily="18" charset="0"/>
            </a:endParaRPr>
          </a:p>
          <a:p>
            <a:pPr algn="just">
              <a:lnSpc>
                <a:spcPct val="100000"/>
              </a:lnSpc>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merit of such a design is that it is simple and randomizes the differences among the sample items</a:t>
            </a:r>
            <a:r>
              <a:rPr lang="en-US" sz="1800" dirty="0" smtClean="0">
                <a:latin typeface="Times New Roman" panose="02020603050405020304" pitchFamily="18" charset="0"/>
                <a:cs typeface="Times New Roman" panose="02020603050405020304" pitchFamily="18" charset="0"/>
              </a:rPr>
              <a:t>.</a:t>
            </a:r>
          </a:p>
          <a:p>
            <a:pPr algn="just">
              <a:lnSpc>
                <a:spcPct val="100000"/>
              </a:lnSpc>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But the limitation of it is that the individual differences among those conducting the treatments are not eliminated, i.e., it does not control the extraneous variable and as such the result of the experiment may not depict a correct picture. </a:t>
            </a:r>
            <a:endParaRPr lang="en-US" sz="1800" dirty="0" smtClean="0">
              <a:latin typeface="Times New Roman" panose="02020603050405020304" pitchFamily="18" charset="0"/>
              <a:cs typeface="Times New Roman" panose="02020603050405020304" pitchFamily="18" charset="0"/>
            </a:endParaRPr>
          </a:p>
          <a:p>
            <a:pPr algn="just">
              <a:lnSpc>
                <a:spcPct val="100000"/>
              </a:lnSpc>
            </a:pPr>
            <a:r>
              <a:rPr lang="en-US" sz="1800" dirty="0" smtClean="0">
                <a:latin typeface="Times New Roman" panose="02020603050405020304" pitchFamily="18" charset="0"/>
                <a:cs typeface="Times New Roman" panose="02020603050405020304" pitchFamily="18" charset="0"/>
              </a:rPr>
              <a:t>This </a:t>
            </a:r>
            <a:r>
              <a:rPr lang="en-US" sz="1800" dirty="0">
                <a:latin typeface="Times New Roman" panose="02020603050405020304" pitchFamily="18" charset="0"/>
                <a:cs typeface="Times New Roman" panose="02020603050405020304" pitchFamily="18" charset="0"/>
              </a:rPr>
              <a:t>can be illustrated by taking an example. Suppose the researcher wants to compare two groups of students who have been randomly selected and randomly assigned</a:t>
            </a:r>
            <a:r>
              <a:rPr lang="en-US" sz="1800" dirty="0" smtClean="0">
                <a:latin typeface="Times New Roman" panose="02020603050405020304" pitchFamily="18" charset="0"/>
                <a:cs typeface="Times New Roman" panose="02020603050405020304" pitchFamily="18" charset="0"/>
              </a:rPr>
              <a:t>.</a:t>
            </a:r>
          </a:p>
          <a:p>
            <a:pPr algn="just">
              <a:lnSpc>
                <a:spcPct val="100000"/>
              </a:lnSpc>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Two different treatments viz., the usual training and the specialized training are being given to the two groups. </a:t>
            </a:r>
            <a:endParaRPr lang="en-US" sz="1800" dirty="0" smtClean="0">
              <a:latin typeface="Times New Roman" panose="02020603050405020304" pitchFamily="18" charset="0"/>
              <a:cs typeface="Times New Roman" panose="02020603050405020304" pitchFamily="18" charset="0"/>
            </a:endParaRPr>
          </a:p>
          <a:p>
            <a:pPr algn="just">
              <a:lnSpc>
                <a:spcPct val="100000"/>
              </a:lnSpc>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researcher </a:t>
            </a:r>
            <a:r>
              <a:rPr lang="en-US" sz="1800" dirty="0" err="1">
                <a:latin typeface="Times New Roman" panose="02020603050405020304" pitchFamily="18" charset="0"/>
                <a:cs typeface="Times New Roman" panose="02020603050405020304" pitchFamily="18" charset="0"/>
              </a:rPr>
              <a:t>hypothesises</a:t>
            </a:r>
            <a:r>
              <a:rPr lang="en-US" sz="1800" dirty="0">
                <a:latin typeface="Times New Roman" panose="02020603050405020304" pitchFamily="18" charset="0"/>
                <a:cs typeface="Times New Roman" panose="02020603050405020304" pitchFamily="18" charset="0"/>
              </a:rPr>
              <a:t> greater gains for the group receiving </a:t>
            </a:r>
            <a:r>
              <a:rPr lang="en-US" sz="1800" dirty="0" err="1">
                <a:latin typeface="Times New Roman" panose="02020603050405020304" pitchFamily="18" charset="0"/>
                <a:cs typeface="Times New Roman" panose="02020603050405020304" pitchFamily="18" charset="0"/>
              </a:rPr>
              <a:t>specialised</a:t>
            </a:r>
            <a:r>
              <a:rPr lang="en-US" sz="1800" dirty="0">
                <a:latin typeface="Times New Roman" panose="02020603050405020304" pitchFamily="18" charset="0"/>
                <a:cs typeface="Times New Roman" panose="02020603050405020304" pitchFamily="18" charset="0"/>
              </a:rPr>
              <a:t> training</a:t>
            </a:r>
            <a:r>
              <a:rPr lang="en-US" sz="1800" dirty="0" smtClean="0">
                <a:latin typeface="Times New Roman" panose="02020603050405020304" pitchFamily="18" charset="0"/>
                <a:cs typeface="Times New Roman" panose="02020603050405020304" pitchFamily="18" charset="0"/>
              </a:rPr>
              <a:t>.</a:t>
            </a:r>
          </a:p>
          <a:p>
            <a:pPr algn="just">
              <a:lnSpc>
                <a:spcPct val="100000"/>
              </a:lnSpc>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To determine this, he tests each group before and after the training, and then compares the amount of gain for the two groups to accept or reject his hypothesis. </a:t>
            </a:r>
            <a:endParaRPr lang="en-US" sz="1800" dirty="0" smtClean="0">
              <a:latin typeface="Times New Roman" panose="02020603050405020304" pitchFamily="18" charset="0"/>
              <a:cs typeface="Times New Roman" panose="02020603050405020304" pitchFamily="18" charset="0"/>
            </a:endParaRPr>
          </a:p>
          <a:p>
            <a:pPr algn="just">
              <a:lnSpc>
                <a:spcPct val="100000"/>
              </a:lnSpc>
            </a:pPr>
            <a:r>
              <a:rPr lang="en-US" sz="1800" dirty="0" smtClean="0">
                <a:latin typeface="Times New Roman" panose="02020603050405020304" pitchFamily="18" charset="0"/>
                <a:cs typeface="Times New Roman" panose="02020603050405020304" pitchFamily="18" charset="0"/>
              </a:rPr>
              <a:t>This </a:t>
            </a:r>
            <a:r>
              <a:rPr lang="en-US" sz="1800" dirty="0">
                <a:latin typeface="Times New Roman" panose="02020603050405020304" pitchFamily="18" charset="0"/>
                <a:cs typeface="Times New Roman" panose="02020603050405020304" pitchFamily="18" charset="0"/>
              </a:rPr>
              <a:t>is an illustration of the two-groups randomized design, wherein individual differences among students are being randomized. </a:t>
            </a:r>
            <a:endParaRPr lang="en-US" sz="1800" dirty="0" smtClean="0">
              <a:latin typeface="Times New Roman" panose="02020603050405020304" pitchFamily="18" charset="0"/>
              <a:cs typeface="Times New Roman" panose="02020603050405020304" pitchFamily="18" charset="0"/>
            </a:endParaRPr>
          </a:p>
          <a:p>
            <a:pPr algn="just">
              <a:lnSpc>
                <a:spcPct val="100000"/>
              </a:lnSpc>
            </a:pPr>
            <a:r>
              <a:rPr lang="en-US" sz="1800" dirty="0" smtClean="0">
                <a:latin typeface="Times New Roman" panose="02020603050405020304" pitchFamily="18" charset="0"/>
                <a:cs typeface="Times New Roman" panose="02020603050405020304" pitchFamily="18" charset="0"/>
              </a:rPr>
              <a:t>But </a:t>
            </a:r>
            <a:r>
              <a:rPr lang="en-US" sz="1800" dirty="0">
                <a:latin typeface="Times New Roman" panose="02020603050405020304" pitchFamily="18" charset="0"/>
                <a:cs typeface="Times New Roman" panose="02020603050405020304" pitchFamily="18" charset="0"/>
              </a:rPr>
              <a:t>this does not control the differential effects of the extraneous independent variables (in this case, the individual differences among those conducting the training </a:t>
            </a:r>
            <a:r>
              <a:rPr lang="en-US" sz="1800" dirty="0" err="1">
                <a:latin typeface="Times New Roman" panose="02020603050405020304" pitchFamily="18" charset="0"/>
                <a:cs typeface="Times New Roman" panose="02020603050405020304" pitchFamily="18" charset="0"/>
              </a:rPr>
              <a:t>programme</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08577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75934"/>
            <a:ext cx="9087439" cy="7280668"/>
          </a:xfrm>
        </p:spPr>
        <p:txBody>
          <a:bodyPr>
            <a:noAutofit/>
          </a:bodyPr>
          <a:lstStyle/>
          <a:p>
            <a:pPr algn="just">
              <a:lnSpc>
                <a:spcPct val="120000"/>
              </a:lnSpc>
            </a:pPr>
            <a:r>
              <a:rPr lang="en-US" sz="1800" dirty="0">
                <a:solidFill>
                  <a:srgbClr val="FF0000"/>
                </a:solidFill>
                <a:latin typeface="Times New Roman" panose="02020603050405020304" pitchFamily="18" charset="0"/>
                <a:cs typeface="Times New Roman" panose="02020603050405020304" pitchFamily="18" charset="0"/>
              </a:rPr>
              <a:t>Random replications design</a:t>
            </a:r>
            <a:r>
              <a:rPr lang="en-US" sz="1800" dirty="0">
                <a:latin typeface="Times New Roman" panose="02020603050405020304" pitchFamily="18" charset="0"/>
                <a:cs typeface="Times New Roman" panose="02020603050405020304" pitchFamily="18" charset="0"/>
              </a:rPr>
              <a:t>: The limitation of the two-group randomized design is usually eliminated within the random replications design</a:t>
            </a:r>
            <a:r>
              <a:rPr lang="en-US" sz="1800" dirty="0" smtClean="0">
                <a:latin typeface="Times New Roman" panose="02020603050405020304" pitchFamily="18" charset="0"/>
                <a:cs typeface="Times New Roman" panose="02020603050405020304" pitchFamily="18" charset="0"/>
              </a:rPr>
              <a:t>.</a:t>
            </a:r>
          </a:p>
          <a:p>
            <a:pPr algn="just">
              <a:lnSpc>
                <a:spcPct val="120000"/>
              </a:lnSpc>
            </a:pPr>
            <a:r>
              <a:rPr lang="en-US" sz="1800" dirty="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n </a:t>
            </a:r>
            <a:r>
              <a:rPr lang="en-US" sz="1800" dirty="0">
                <a:latin typeface="Times New Roman" panose="02020603050405020304" pitchFamily="18" charset="0"/>
                <a:cs typeface="Times New Roman" panose="02020603050405020304" pitchFamily="18" charset="0"/>
              </a:rPr>
              <a:t>a random replications design, the effect of extraneous independent </a:t>
            </a:r>
            <a:r>
              <a:rPr lang="en-US" sz="1800" dirty="0" smtClean="0">
                <a:latin typeface="Times New Roman" panose="02020603050405020304" pitchFamily="18" charset="0"/>
                <a:cs typeface="Times New Roman" panose="02020603050405020304" pitchFamily="18" charset="0"/>
              </a:rPr>
              <a:t>variable are </a:t>
            </a:r>
            <a:r>
              <a:rPr lang="en-US" sz="1800" dirty="0" err="1">
                <a:latin typeface="Times New Roman" panose="02020603050405020304" pitchFamily="18" charset="0"/>
                <a:cs typeface="Times New Roman" panose="02020603050405020304" pitchFamily="18" charset="0"/>
              </a:rPr>
              <a:t>minimised</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by </a:t>
            </a:r>
            <a:r>
              <a:rPr lang="en-US" sz="1800" dirty="0">
                <a:latin typeface="Times New Roman" panose="02020603050405020304" pitchFamily="18" charset="0"/>
                <a:cs typeface="Times New Roman" panose="02020603050405020304" pitchFamily="18" charset="0"/>
              </a:rPr>
              <a:t>providing a number of repetitions for each treatment. </a:t>
            </a:r>
            <a:endParaRPr lang="en-US" sz="1800" dirty="0" smtClean="0">
              <a:latin typeface="Times New Roman" panose="02020603050405020304" pitchFamily="18" charset="0"/>
              <a:cs typeface="Times New Roman" panose="02020603050405020304" pitchFamily="18" charset="0"/>
            </a:endParaRPr>
          </a:p>
          <a:p>
            <a:pPr algn="just">
              <a:lnSpc>
                <a:spcPct val="120000"/>
              </a:lnSpc>
            </a:pPr>
            <a:r>
              <a:rPr lang="en-US" sz="1800" dirty="0" smtClean="0">
                <a:latin typeface="Times New Roman" panose="02020603050405020304" pitchFamily="18" charset="0"/>
                <a:cs typeface="Times New Roman" panose="02020603050405020304" pitchFamily="18" charset="0"/>
              </a:rPr>
              <a:t>Each </a:t>
            </a:r>
            <a:r>
              <a:rPr lang="en-US" sz="1800" dirty="0">
                <a:latin typeface="Times New Roman" panose="02020603050405020304" pitchFamily="18" charset="0"/>
                <a:cs typeface="Times New Roman" panose="02020603050405020304" pitchFamily="18" charset="0"/>
              </a:rPr>
              <a:t>repetition is technically called a ‘replication</a:t>
            </a:r>
            <a:r>
              <a:rPr lang="en-US" sz="1800" dirty="0" smtClean="0">
                <a:latin typeface="Times New Roman" panose="02020603050405020304" pitchFamily="18" charset="0"/>
                <a:cs typeface="Times New Roman" panose="02020603050405020304" pitchFamily="18" charset="0"/>
              </a:rPr>
              <a:t>’.</a:t>
            </a:r>
          </a:p>
          <a:p>
            <a:pPr algn="just">
              <a:lnSpc>
                <a:spcPct val="120000"/>
              </a:lnSpc>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Random replication design serves two purposes viz., it provides controls for the differential effects of the extraneous independent variables and secondly, it randomizes any individual differences among those conducting the treatments. </a:t>
            </a:r>
            <a:endParaRPr lang="en-US" sz="1800" dirty="0" smtClean="0">
              <a:latin typeface="Times New Roman" panose="02020603050405020304" pitchFamily="18" charset="0"/>
              <a:cs typeface="Times New Roman" panose="02020603050405020304" pitchFamily="18" charset="0"/>
            </a:endParaRPr>
          </a:p>
          <a:p>
            <a:pPr algn="just">
              <a:lnSpc>
                <a:spcPct val="120000"/>
              </a:lnSpc>
            </a:pPr>
            <a:r>
              <a:rPr lang="en-US" sz="1800" dirty="0" smtClean="0">
                <a:latin typeface="Times New Roman" panose="02020603050405020304" pitchFamily="18" charset="0"/>
                <a:cs typeface="Times New Roman" panose="02020603050405020304" pitchFamily="18" charset="0"/>
              </a:rPr>
              <a:t>From </a:t>
            </a:r>
            <a:r>
              <a:rPr lang="en-US" sz="1800" dirty="0">
                <a:latin typeface="Times New Roman" panose="02020603050405020304" pitchFamily="18" charset="0"/>
                <a:cs typeface="Times New Roman" panose="02020603050405020304" pitchFamily="18" charset="0"/>
              </a:rPr>
              <a:t>the diagram it is clear that there are two populations in the replication design. </a:t>
            </a:r>
            <a:endParaRPr lang="en-US" sz="1800" dirty="0" smtClean="0">
              <a:latin typeface="Times New Roman" panose="02020603050405020304" pitchFamily="18" charset="0"/>
              <a:cs typeface="Times New Roman" panose="02020603050405020304" pitchFamily="18" charset="0"/>
            </a:endParaRPr>
          </a:p>
          <a:p>
            <a:pPr algn="just">
              <a:lnSpc>
                <a:spcPct val="120000"/>
              </a:lnSpc>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sample is taken randomly from the population available for study and is randomly assigned to, say, four experimental and four control groups. </a:t>
            </a:r>
            <a:endParaRPr lang="en-US" sz="1800" dirty="0" smtClean="0">
              <a:latin typeface="Times New Roman" panose="02020603050405020304" pitchFamily="18" charset="0"/>
              <a:cs typeface="Times New Roman" panose="02020603050405020304" pitchFamily="18" charset="0"/>
            </a:endParaRPr>
          </a:p>
          <a:p>
            <a:pPr algn="just">
              <a:lnSpc>
                <a:spcPct val="120000"/>
              </a:lnSpc>
            </a:pPr>
            <a:r>
              <a:rPr lang="en-US" sz="1800" dirty="0" smtClean="0">
                <a:latin typeface="Times New Roman" panose="02020603050405020304" pitchFamily="18" charset="0"/>
                <a:cs typeface="Times New Roman" panose="02020603050405020304" pitchFamily="18" charset="0"/>
              </a:rPr>
              <a:t>Similarly</a:t>
            </a:r>
            <a:r>
              <a:rPr lang="en-US" sz="1800" dirty="0">
                <a:latin typeface="Times New Roman" panose="02020603050405020304" pitchFamily="18" charset="0"/>
                <a:cs typeface="Times New Roman" panose="02020603050405020304" pitchFamily="18" charset="0"/>
              </a:rPr>
              <a:t>, sample is taken randomly from the population available to conduct experiments </a:t>
            </a:r>
            <a:r>
              <a:rPr lang="en-US" sz="1800" dirty="0" smtClean="0">
                <a:latin typeface="Times New Roman" panose="02020603050405020304" pitchFamily="18" charset="0"/>
                <a:cs typeface="Times New Roman" panose="02020603050405020304" pitchFamily="18" charset="0"/>
              </a:rPr>
              <a:t>and </a:t>
            </a:r>
            <a:r>
              <a:rPr lang="en-US" sz="1800" dirty="0">
                <a:latin typeface="Times New Roman" panose="02020603050405020304" pitchFamily="18" charset="0"/>
                <a:cs typeface="Times New Roman" panose="02020603050405020304" pitchFamily="18" charset="0"/>
              </a:rPr>
              <a:t>the eight individuals so selected should be randomly assigned to the eight groups</a:t>
            </a:r>
            <a:r>
              <a:rPr lang="en-US" sz="1800" dirty="0" smtClean="0">
                <a:latin typeface="Times New Roman" panose="02020603050405020304" pitchFamily="18" charset="0"/>
                <a:cs typeface="Times New Roman" panose="02020603050405020304" pitchFamily="18" charset="0"/>
              </a:rPr>
              <a:t>.</a:t>
            </a:r>
          </a:p>
          <a:p>
            <a:pPr algn="just">
              <a:lnSpc>
                <a:spcPct val="120000"/>
              </a:lnSpc>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Generally, equal number of items are put in each group so that the size of the group is not likely to affect the result of the study. </a:t>
            </a:r>
            <a:endParaRPr lang="en-US" sz="1800" dirty="0" smtClean="0">
              <a:latin typeface="Times New Roman" panose="02020603050405020304" pitchFamily="18" charset="0"/>
              <a:cs typeface="Times New Roman" panose="02020603050405020304" pitchFamily="18" charset="0"/>
            </a:endParaRPr>
          </a:p>
          <a:p>
            <a:pPr algn="just">
              <a:lnSpc>
                <a:spcPct val="120000"/>
              </a:lnSpc>
            </a:pPr>
            <a:r>
              <a:rPr lang="en-US" sz="1800" dirty="0" smtClean="0">
                <a:latin typeface="Times New Roman" panose="02020603050405020304" pitchFamily="18" charset="0"/>
                <a:cs typeface="Times New Roman" panose="02020603050405020304" pitchFamily="18" charset="0"/>
              </a:rPr>
              <a:t>Thus</a:t>
            </a:r>
            <a:r>
              <a:rPr lang="en-US" sz="1800" dirty="0">
                <a:latin typeface="Times New Roman" panose="02020603050405020304" pitchFamily="18" charset="0"/>
                <a:cs typeface="Times New Roman" panose="02020603050405020304" pitchFamily="18" charset="0"/>
              </a:rPr>
              <a:t>, this random replication design is, in fact, an extension of the two-group simple randomized design.</a:t>
            </a:r>
          </a:p>
          <a:p>
            <a:pPr>
              <a:lnSpc>
                <a:spcPct val="120000"/>
              </a:lnSpc>
            </a:pPr>
            <a:endParaRPr lang="en-IN" sz="1800" dirty="0"/>
          </a:p>
        </p:txBody>
      </p:sp>
      <p:pic>
        <p:nvPicPr>
          <p:cNvPr id="4" name="Content Placeholder 3"/>
          <p:cNvPicPr>
            <a:picLocks noChangeAspect="1"/>
          </p:cNvPicPr>
          <p:nvPr/>
        </p:nvPicPr>
        <p:blipFill>
          <a:blip r:embed="rId2"/>
          <a:stretch>
            <a:fillRect/>
          </a:stretch>
        </p:blipFill>
        <p:spPr>
          <a:xfrm>
            <a:off x="9087439" y="338201"/>
            <a:ext cx="2951111" cy="4351338"/>
          </a:xfrm>
          <a:prstGeom prst="rect">
            <a:avLst/>
          </a:prstGeom>
        </p:spPr>
      </p:pic>
      <p:sp>
        <p:nvSpPr>
          <p:cNvPr id="5" name="Rectangle 4"/>
          <p:cNvSpPr/>
          <p:nvPr/>
        </p:nvSpPr>
        <p:spPr>
          <a:xfrm>
            <a:off x="8820345" y="4689539"/>
            <a:ext cx="4031531" cy="830997"/>
          </a:xfrm>
          <a:prstGeom prst="rect">
            <a:avLst/>
          </a:prstGeom>
        </p:spPr>
        <p:txBody>
          <a:bodyPr wrap="square">
            <a:spAutoFit/>
          </a:bodyPr>
          <a:lstStyle/>
          <a:p>
            <a:pPr algn="ctr"/>
            <a:r>
              <a:rPr lang="en-US" sz="1600" b="1" i="1" dirty="0">
                <a:solidFill>
                  <a:srgbClr val="000000"/>
                </a:solidFill>
                <a:latin typeface="Times New Roman" panose="02020603050405020304" pitchFamily="18" charset="0"/>
                <a:cs typeface="Times New Roman" panose="02020603050405020304" pitchFamily="18" charset="0"/>
              </a:rPr>
              <a:t>Random replication design </a:t>
            </a:r>
            <a:endParaRPr lang="en-US" sz="1600" b="1" i="1" dirty="0" smtClean="0">
              <a:solidFill>
                <a:srgbClr val="000000"/>
              </a:solidFill>
              <a:latin typeface="Times New Roman" panose="02020603050405020304" pitchFamily="18" charset="0"/>
              <a:cs typeface="Times New Roman" panose="02020603050405020304" pitchFamily="18" charset="0"/>
            </a:endParaRPr>
          </a:p>
          <a:p>
            <a:pPr algn="ctr"/>
            <a:r>
              <a:rPr lang="en-US" sz="1600" b="1" i="1" dirty="0" smtClean="0">
                <a:solidFill>
                  <a:srgbClr val="000000"/>
                </a:solidFill>
                <a:latin typeface="Times New Roman" panose="02020603050405020304" pitchFamily="18" charset="0"/>
                <a:cs typeface="Times New Roman" panose="02020603050405020304" pitchFamily="18" charset="0"/>
              </a:rPr>
              <a:t>(</a:t>
            </a:r>
            <a:r>
              <a:rPr lang="en-US" sz="1600" b="1" i="1" dirty="0">
                <a:solidFill>
                  <a:srgbClr val="000000"/>
                </a:solidFill>
                <a:latin typeface="Times New Roman" panose="02020603050405020304" pitchFamily="18" charset="0"/>
                <a:cs typeface="Times New Roman" panose="02020603050405020304" pitchFamily="18" charset="0"/>
              </a:rPr>
              <a:t>in diagram form)</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8547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60947" y="194788"/>
            <a:ext cx="4570690" cy="6739366"/>
          </a:xfrm>
          <a:prstGeom prst="rect">
            <a:avLst/>
          </a:prstGeom>
        </p:spPr>
      </p:pic>
    </p:spTree>
    <p:extLst>
      <p:ext uri="{BB962C8B-B14F-4D97-AF65-F5344CB8AC3E}">
        <p14:creationId xmlns:p14="http://schemas.microsoft.com/office/powerpoint/2010/main" val="1855257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066" y="120028"/>
            <a:ext cx="10515600" cy="850933"/>
          </a:xfrm>
        </p:spPr>
        <p:txBody>
          <a:bodyPr>
            <a:normAutofit/>
          </a:bodyPr>
          <a:lstStyle/>
          <a:p>
            <a:pPr algn="ctr"/>
            <a:r>
              <a:rPr lang="en-US" sz="3600" b="1" dirty="0">
                <a:solidFill>
                  <a:srgbClr val="00B050"/>
                </a:solidFill>
                <a:latin typeface="Times New Roman" panose="02020603050405020304" pitchFamily="18" charset="0"/>
                <a:cs typeface="Times New Roman" panose="02020603050405020304" pitchFamily="18" charset="0"/>
              </a:rPr>
              <a:t>Randomized block design (R.B. design)</a:t>
            </a:r>
            <a:r>
              <a:rPr lang="en-US" sz="3600" dirty="0">
                <a:solidFill>
                  <a:srgbClr val="00B050"/>
                </a:solidFill>
                <a:latin typeface="Times New Roman" panose="02020603050405020304" pitchFamily="18" charset="0"/>
                <a:cs typeface="Times New Roman" panose="02020603050405020304" pitchFamily="18" charset="0"/>
              </a:rPr>
              <a:t> </a:t>
            </a:r>
            <a:endParaRPr lang="en-IN" sz="36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019" y="820132"/>
            <a:ext cx="11426072" cy="6037867"/>
          </a:xfrm>
        </p:spPr>
        <p:txBody>
          <a:bodyPr>
            <a:normAutofit fontScale="92500" lnSpcReduction="10000"/>
          </a:bodyPr>
          <a:lstStyle/>
          <a:p>
            <a:pPr algn="just">
              <a:lnSpc>
                <a:spcPct val="120000"/>
              </a:lnSpc>
            </a:pPr>
            <a:r>
              <a:rPr lang="en-US" sz="2000" dirty="0" smtClean="0">
                <a:latin typeface="Times New Roman" panose="02020603050405020304" pitchFamily="18" charset="0"/>
                <a:cs typeface="Times New Roman" panose="02020603050405020304" pitchFamily="18" charset="0"/>
              </a:rPr>
              <a:t>It is </a:t>
            </a:r>
            <a:r>
              <a:rPr lang="en-US" sz="2000" dirty="0">
                <a:latin typeface="Times New Roman" panose="02020603050405020304" pitchFamily="18" charset="0"/>
                <a:cs typeface="Times New Roman" panose="02020603050405020304" pitchFamily="18" charset="0"/>
              </a:rPr>
              <a:t>an improvement over the C.R. design.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the R.B. design </a:t>
            </a:r>
            <a:r>
              <a:rPr lang="en-US" sz="2000" b="1" dirty="0">
                <a:latin typeface="Times New Roman" panose="02020603050405020304" pitchFamily="18" charset="0"/>
                <a:cs typeface="Times New Roman" panose="02020603050405020304" pitchFamily="18" charset="0"/>
              </a:rPr>
              <a:t>the principle of local control can be applied along with the other two principles of experimental designs</a:t>
            </a:r>
            <a:r>
              <a:rPr lang="en-US" sz="2000" b="1" dirty="0" smtClean="0">
                <a:latin typeface="Times New Roman" panose="02020603050405020304" pitchFamily="18" charset="0"/>
                <a:cs typeface="Times New Roman" panose="02020603050405020304" pitchFamily="18" charset="0"/>
              </a:rPr>
              <a:t>.</a:t>
            </a:r>
          </a:p>
          <a:p>
            <a:pPr algn="just">
              <a:lnSpc>
                <a:spcPct val="12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the R.B. design, </a:t>
            </a:r>
            <a:r>
              <a:rPr lang="en-US" sz="2000" b="1" dirty="0">
                <a:latin typeface="Times New Roman" panose="02020603050405020304" pitchFamily="18" charset="0"/>
                <a:cs typeface="Times New Roman" panose="02020603050405020304" pitchFamily="18" charset="0"/>
              </a:rPr>
              <a:t>subjects are first divided into groups, known as blocks, such that within each group the subjects are relatively homogeneous </a:t>
            </a:r>
            <a:r>
              <a:rPr lang="en-US" sz="2000" dirty="0">
                <a:latin typeface="Times New Roman" panose="02020603050405020304" pitchFamily="18" charset="0"/>
                <a:cs typeface="Times New Roman" panose="02020603050405020304" pitchFamily="18" charset="0"/>
              </a:rPr>
              <a:t>in respect to some selected variable.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variable selected for grouping the subjects is one that is believed to be related to the measures to be obtained in respect of the dependent variable.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number of subjects in a given block would be equal to the number of treatments and one subject in each block would be randomly assigned to each treatment. </a:t>
            </a:r>
            <a:endParaRPr lang="en-US" sz="2000" b="1"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general, blocks are the levels at which we hold the extraneous factor fixed, so that its contribution to the total variability of data can be measured</a:t>
            </a:r>
            <a:r>
              <a:rPr lang="en-US" sz="2000" dirty="0" smtClean="0">
                <a:latin typeface="Times New Roman" panose="02020603050405020304" pitchFamily="18" charset="0"/>
                <a:cs typeface="Times New Roman" panose="02020603050405020304" pitchFamily="18" charset="0"/>
              </a:rPr>
              <a:t>.</a:t>
            </a:r>
          </a:p>
          <a:p>
            <a:pPr algn="just">
              <a:lnSpc>
                <a:spcPct val="12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main feature of the R.B. design is that in this each treatment appears the same number of times in each block. </a:t>
            </a:r>
            <a:endParaRPr lang="en-US" sz="2000" dirty="0" smtClean="0">
              <a:latin typeface="Times New Roman" panose="02020603050405020304" pitchFamily="18" charset="0"/>
              <a:cs typeface="Times New Roman" panose="02020603050405020304" pitchFamily="18" charset="0"/>
            </a:endParaRPr>
          </a:p>
          <a:p>
            <a:pPr>
              <a:lnSpc>
                <a:spcPct val="120000"/>
              </a:lnSpc>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R.B. design is </a:t>
            </a:r>
            <a:r>
              <a:rPr lang="en-US" sz="2000" dirty="0" err="1">
                <a:latin typeface="Times New Roman" panose="02020603050405020304" pitchFamily="18" charset="0"/>
                <a:cs typeface="Times New Roman" panose="02020603050405020304" pitchFamily="18" charset="0"/>
              </a:rPr>
              <a:t>analysed</a:t>
            </a:r>
            <a:r>
              <a:rPr lang="en-US" sz="2000" dirty="0">
                <a:latin typeface="Times New Roman" panose="02020603050405020304" pitchFamily="18" charset="0"/>
                <a:cs typeface="Times New Roman" panose="02020603050405020304" pitchFamily="18" charset="0"/>
              </a:rPr>
              <a:t> by the two-way analysis of variance (two-way ANOVA</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technique.</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7702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andomized block desig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26656" y="1879675"/>
            <a:ext cx="3886200" cy="19431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16437" y="4172530"/>
            <a:ext cx="10746557" cy="1877437"/>
          </a:xfrm>
          <a:prstGeom prst="rect">
            <a:avLst/>
          </a:prstGeom>
        </p:spPr>
        <p:txBody>
          <a:bodyPr wrap="square">
            <a:spAutoFit/>
          </a:bodyPr>
          <a:lstStyle/>
          <a:p>
            <a:pPr marL="285750" indent="-28575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If each student separately randomized the order in which he or she took the four </a:t>
            </a:r>
            <a:r>
              <a:rPr lang="en-US" sz="2000" dirty="0" smtClean="0">
                <a:solidFill>
                  <a:srgbClr val="000000"/>
                </a:solidFill>
                <a:latin typeface="Times New Roman" panose="02020603050405020304" pitchFamily="18" charset="0"/>
                <a:cs typeface="Times New Roman" panose="02020603050405020304" pitchFamily="18" charset="0"/>
              </a:rPr>
              <a:t>tests, </a:t>
            </a:r>
            <a:r>
              <a:rPr lang="en-US" sz="2000" dirty="0">
                <a:solidFill>
                  <a:srgbClr val="000000"/>
                </a:solidFill>
                <a:latin typeface="Times New Roman" panose="02020603050405020304" pitchFamily="18" charset="0"/>
                <a:cs typeface="Times New Roman" panose="02020603050405020304" pitchFamily="18" charset="0"/>
              </a:rPr>
              <a:t>we refer to the design of this experiment as a R.B. design. </a:t>
            </a:r>
            <a:endParaRPr lang="en-US" sz="2000" dirty="0" smtClean="0">
              <a:solidFill>
                <a:srgbClr val="0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smtClean="0">
                <a:solidFill>
                  <a:srgbClr val="000000"/>
                </a:solidFill>
                <a:latin typeface="Times New Roman" panose="02020603050405020304" pitchFamily="18" charset="0"/>
                <a:cs typeface="Times New Roman" panose="02020603050405020304" pitchFamily="18" charset="0"/>
              </a:rPr>
              <a:t>The </a:t>
            </a:r>
            <a:r>
              <a:rPr lang="en-US" sz="2000" dirty="0">
                <a:solidFill>
                  <a:srgbClr val="000000"/>
                </a:solidFill>
                <a:latin typeface="Times New Roman" panose="02020603050405020304" pitchFamily="18" charset="0"/>
                <a:cs typeface="Times New Roman" panose="02020603050405020304" pitchFamily="18" charset="0"/>
              </a:rPr>
              <a:t>purpose of this randomization is to take care of such possible extraneous factors (say as fatigue) or perhaps the experience gained from repeatedly taking the test.</a:t>
            </a:r>
          </a:p>
          <a:p>
            <a:r>
              <a:rPr lang="en-US" dirty="0"/>
              <a:t/>
            </a:r>
            <a:br>
              <a:rPr lang="en-US" dirty="0"/>
            </a:br>
            <a:endParaRPr lang="en-IN" dirty="0"/>
          </a:p>
        </p:txBody>
      </p:sp>
      <p:sp>
        <p:nvSpPr>
          <p:cNvPr id="5" name="Rectangle 4"/>
          <p:cNvSpPr/>
          <p:nvPr/>
        </p:nvSpPr>
        <p:spPr>
          <a:xfrm>
            <a:off x="782425" y="465611"/>
            <a:ext cx="10586301" cy="1015663"/>
          </a:xfrm>
          <a:prstGeom prst="rect">
            <a:avLst/>
          </a:prstGeom>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Let us illustrate the R.B. design with the help of an example. Suppose four different forms of a </a:t>
            </a:r>
            <a:r>
              <a:rPr lang="en-US" sz="2000" dirty="0" err="1">
                <a:latin typeface="Times New Roman" panose="02020603050405020304" pitchFamily="18" charset="0"/>
                <a:cs typeface="Times New Roman" panose="02020603050405020304" pitchFamily="18" charset="0"/>
              </a:rPr>
              <a:t>standardised</a:t>
            </a:r>
            <a:r>
              <a:rPr lang="en-US" sz="2000" dirty="0">
                <a:latin typeface="Times New Roman" panose="02020603050405020304" pitchFamily="18" charset="0"/>
                <a:cs typeface="Times New Roman" panose="02020603050405020304" pitchFamily="18" charset="0"/>
              </a:rPr>
              <a:t> test in statistics were given to each of five students (selected one from each of the five I.Q. blocks) and following are the scores which they obtained.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13180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652"/>
          </a:xfrm>
        </p:spPr>
        <p:txBody>
          <a:bodyPr>
            <a:normAutofit/>
          </a:bodyPr>
          <a:lstStyle/>
          <a:p>
            <a:pPr algn="ctr"/>
            <a:r>
              <a:rPr lang="en-IN" sz="3600" b="1" dirty="0">
                <a:solidFill>
                  <a:srgbClr val="00B050"/>
                </a:solidFill>
                <a:latin typeface="Times New Roman" panose="02020603050405020304" pitchFamily="18" charset="0"/>
                <a:cs typeface="Times New Roman" panose="02020603050405020304" pitchFamily="18" charset="0"/>
              </a:rPr>
              <a:t>Latin square design (L.S. design)</a:t>
            </a:r>
            <a:endParaRPr lang="en-IN" sz="36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7777"/>
            <a:ext cx="10515600" cy="5439265"/>
          </a:xfrm>
        </p:spPr>
        <p:txBody>
          <a:bodyPr>
            <a:normAutofit/>
          </a:bodyPr>
          <a:lstStyle/>
          <a:p>
            <a:pPr algn="just">
              <a:lnSpc>
                <a:spcPct val="100000"/>
              </a:lnSpc>
            </a:pPr>
            <a:r>
              <a:rPr lang="en-US" dirty="0"/>
              <a:t> </a:t>
            </a:r>
            <a:r>
              <a:rPr lang="en-US" sz="2000" dirty="0" smtClean="0">
                <a:latin typeface="Times New Roman" panose="02020603050405020304" pitchFamily="18" charset="0"/>
                <a:cs typeface="Times New Roman" panose="02020603050405020304" pitchFamily="18" charset="0"/>
              </a:rPr>
              <a:t>It is </a:t>
            </a:r>
            <a:r>
              <a:rPr lang="en-US" sz="2000" dirty="0">
                <a:latin typeface="Times New Roman" panose="02020603050405020304" pitchFamily="18" charset="0"/>
                <a:cs typeface="Times New Roman" panose="02020603050405020304" pitchFamily="18" charset="0"/>
              </a:rPr>
              <a:t>an experimental design very frequently used in agricultural research. </a:t>
            </a:r>
            <a:endParaRPr lang="en-US" sz="2000" dirty="0" smtClean="0">
              <a:latin typeface="Times New Roman" panose="02020603050405020304" pitchFamily="18" charset="0"/>
              <a:cs typeface="Times New Roman" panose="02020603050405020304" pitchFamily="18" charset="0"/>
            </a:endParaRPr>
          </a:p>
          <a:p>
            <a:pPr algn="just">
              <a:lnSpc>
                <a:spcPct val="100000"/>
              </a:lnSpc>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conditions under which agricultural investigations are carried out are different from those in other studies for nature plays an important role in agriculture</a:t>
            </a:r>
            <a:r>
              <a:rPr lang="en-US" sz="2000" dirty="0" smtClean="0">
                <a:latin typeface="Times New Roman" panose="02020603050405020304" pitchFamily="18" charset="0"/>
                <a:cs typeface="Times New Roman" panose="02020603050405020304" pitchFamily="18" charset="0"/>
              </a:rPr>
              <a:t>.</a:t>
            </a:r>
          </a:p>
          <a:p>
            <a:pPr algn="just">
              <a:lnSpc>
                <a:spcPct val="10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 instance, an experiment has to be made through which the effects of five different varieties of fertilizers on the yield of a certain crop, say wheat, it to be judged. </a:t>
            </a:r>
            <a:endParaRPr lang="en-US" sz="2000" dirty="0" smtClean="0">
              <a:latin typeface="Times New Roman" panose="02020603050405020304" pitchFamily="18" charset="0"/>
              <a:cs typeface="Times New Roman" panose="02020603050405020304" pitchFamily="18" charset="0"/>
            </a:endParaRPr>
          </a:p>
          <a:p>
            <a:pPr algn="just">
              <a:lnSpc>
                <a:spcPct val="100000"/>
              </a:lnSpc>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such a case the varying fertility of the soil in different blocks in which the experiment has to be performed must be taken into consideration; otherwise the results obtained may not be very dependable because the output happens to be the effect not only of fertilizers, but it may also be the effect of fertility of soil. </a:t>
            </a:r>
            <a:endParaRPr lang="en-US" sz="2000" dirty="0" smtClean="0">
              <a:latin typeface="Times New Roman" panose="02020603050405020304" pitchFamily="18" charset="0"/>
              <a:cs typeface="Times New Roman" panose="02020603050405020304" pitchFamily="18" charset="0"/>
            </a:endParaRPr>
          </a:p>
          <a:p>
            <a:pPr algn="just">
              <a:lnSpc>
                <a:spcPct val="100000"/>
              </a:lnSpc>
            </a:pPr>
            <a:r>
              <a:rPr lang="en-US" sz="2000" dirty="0" smtClean="0">
                <a:latin typeface="Times New Roman" panose="02020603050405020304" pitchFamily="18" charset="0"/>
                <a:cs typeface="Times New Roman" panose="02020603050405020304" pitchFamily="18" charset="0"/>
              </a:rPr>
              <a:t>Similarly</a:t>
            </a:r>
            <a:r>
              <a:rPr lang="en-US" sz="2000" dirty="0">
                <a:latin typeface="Times New Roman" panose="02020603050405020304" pitchFamily="18" charset="0"/>
                <a:cs typeface="Times New Roman" panose="02020603050405020304" pitchFamily="18" charset="0"/>
              </a:rPr>
              <a:t>, there may be impact of varying seeds on the yield</a:t>
            </a:r>
            <a:r>
              <a:rPr lang="en-US" sz="2000" dirty="0" smtClean="0">
                <a:latin typeface="Times New Roman" panose="02020603050405020304" pitchFamily="18" charset="0"/>
                <a:cs typeface="Times New Roman" panose="02020603050405020304" pitchFamily="18" charset="0"/>
              </a:rPr>
              <a:t>.</a:t>
            </a:r>
          </a:p>
          <a:p>
            <a:pPr algn="just">
              <a:lnSpc>
                <a:spcPct val="10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overcome such difficulties, the L.S. design is used when there are two major extraneous factors such as the varying soil fertility and varying seeds.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97792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614" y="0"/>
            <a:ext cx="10515600" cy="4351338"/>
          </a:xfrm>
        </p:spPr>
        <p:txBody>
          <a:bodyPr>
            <a:normAutofit/>
          </a:bodyPr>
          <a:lstStyle/>
          <a:p>
            <a:pPr algn="just">
              <a:lnSpc>
                <a:spcPct val="100000"/>
              </a:lnSpc>
            </a:pPr>
            <a:r>
              <a:rPr lang="en-US" sz="2000" dirty="0">
                <a:latin typeface="Times New Roman" panose="02020603050405020304" pitchFamily="18" charset="0"/>
                <a:cs typeface="Times New Roman" panose="02020603050405020304" pitchFamily="18" charset="0"/>
              </a:rPr>
              <a:t>The Latin-square design is one wherein each fertilizer, in our example, appears five times but is used only once in each row and in each column of the design. </a:t>
            </a:r>
            <a:endParaRPr lang="en-US" sz="2000" dirty="0" smtClean="0">
              <a:latin typeface="Times New Roman" panose="02020603050405020304" pitchFamily="18" charset="0"/>
              <a:cs typeface="Times New Roman" panose="02020603050405020304" pitchFamily="18" charset="0"/>
            </a:endParaRPr>
          </a:p>
          <a:p>
            <a:pPr algn="just">
              <a:lnSpc>
                <a:spcPct val="100000"/>
              </a:lnSpc>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other words, </a:t>
            </a:r>
            <a:r>
              <a:rPr lang="en-US" sz="2000" b="1" dirty="0">
                <a:latin typeface="Times New Roman" panose="02020603050405020304" pitchFamily="18" charset="0"/>
                <a:cs typeface="Times New Roman" panose="02020603050405020304" pitchFamily="18" charset="0"/>
              </a:rPr>
              <a:t>the treatments in a L.S. design are so allocated among the plots that no treatment occurs more than once in any one row or any one column. </a:t>
            </a:r>
            <a:endParaRPr lang="en-US" sz="2000" b="1" dirty="0" smtClean="0">
              <a:latin typeface="Times New Roman" panose="02020603050405020304" pitchFamily="18" charset="0"/>
              <a:cs typeface="Times New Roman" panose="02020603050405020304" pitchFamily="18" charset="0"/>
            </a:endParaRPr>
          </a:p>
          <a:p>
            <a:pPr algn="just">
              <a:lnSpc>
                <a:spcPct val="100000"/>
              </a:lnSpc>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two blocking factors may be represented through rows and columns (one through rows and the other through columns). </a:t>
            </a:r>
            <a:endParaRPr lang="en-US" sz="2000" dirty="0" smtClean="0">
              <a:latin typeface="Times New Roman" panose="02020603050405020304" pitchFamily="18" charset="0"/>
              <a:cs typeface="Times New Roman" panose="02020603050405020304" pitchFamily="18" charset="0"/>
            </a:endParaRPr>
          </a:p>
          <a:p>
            <a:pPr algn="just">
              <a:lnSpc>
                <a:spcPct val="100000"/>
              </a:lnSpc>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following is a diagrammatic form of such a design in respect of, say, five types of fertilizers, viz., A, B, C, D and E and </a:t>
            </a:r>
            <a:r>
              <a:rPr lang="en-US" sz="2000" b="1" dirty="0">
                <a:latin typeface="Times New Roman" panose="02020603050405020304" pitchFamily="18" charset="0"/>
                <a:cs typeface="Times New Roman" panose="02020603050405020304" pitchFamily="18" charset="0"/>
              </a:rPr>
              <a:t>the two blocking factor viz., the varying soil fertility and the varying seeds:</a:t>
            </a:r>
            <a:endParaRPr lang="en-IN" sz="20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520763" y="3138980"/>
            <a:ext cx="4030106" cy="2158884"/>
          </a:xfrm>
          <a:prstGeom prst="rect">
            <a:avLst/>
          </a:prstGeom>
        </p:spPr>
      </p:pic>
      <p:sp>
        <p:nvSpPr>
          <p:cNvPr id="6" name="Rectangle 5"/>
          <p:cNvSpPr/>
          <p:nvPr/>
        </p:nvSpPr>
        <p:spPr>
          <a:xfrm>
            <a:off x="913614" y="5320591"/>
            <a:ext cx="10766196" cy="1537409"/>
          </a:xfrm>
          <a:prstGeom prst="rect">
            <a:avLst/>
          </a:prstGeom>
        </p:spPr>
        <p:txBody>
          <a:bodyPr wrap="square">
            <a:spAutoFit/>
          </a:bodyPr>
          <a:lstStyle/>
          <a:p>
            <a:pPr marL="285750" indent="-285750"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above diagram clearly shows that in a L.S. design the field is divided into as many blocks as there are varieties of fertilizers and then each block is again divided into as many parts as there are varieties of fertilizers in such a way that each of the fertilizer variety is used in each of the block (whether column-wise or row-wise) only once. </a:t>
            </a:r>
          </a:p>
        </p:txBody>
      </p:sp>
    </p:spTree>
    <p:extLst>
      <p:ext uri="{BB962C8B-B14F-4D97-AF65-F5344CB8AC3E}">
        <p14:creationId xmlns:p14="http://schemas.microsoft.com/office/powerpoint/2010/main" val="7379697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462" y="1024344"/>
            <a:ext cx="10910740" cy="5121932"/>
          </a:xfrm>
        </p:spPr>
        <p:txBody>
          <a:bodyPr>
            <a:noAutofit/>
          </a:bodyPr>
          <a:lstStyle/>
          <a:p>
            <a:pPr algn="just">
              <a:lnSpc>
                <a:spcPct val="120000"/>
              </a:lnSpc>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analysis of the L.S. design is very similar to the two-way ANOVA technique</a:t>
            </a:r>
            <a:r>
              <a:rPr lang="en-US" sz="2000" dirty="0" smtClean="0">
                <a:latin typeface="Times New Roman" panose="02020603050405020304" pitchFamily="18" charset="0"/>
                <a:cs typeface="Times New Roman" panose="02020603050405020304" pitchFamily="18" charset="0"/>
              </a:rPr>
              <a:t>.</a:t>
            </a:r>
          </a:p>
          <a:p>
            <a:pPr algn="just">
              <a:lnSpc>
                <a:spcPct val="120000"/>
              </a:lnSpc>
            </a:pPr>
            <a:r>
              <a:rPr lang="en-US" sz="2000"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merit</a:t>
            </a:r>
            <a:r>
              <a:rPr lang="en-US" sz="2000" dirty="0">
                <a:latin typeface="Times New Roman" panose="02020603050405020304" pitchFamily="18" charset="0"/>
                <a:cs typeface="Times New Roman" panose="02020603050405020304" pitchFamily="18" charset="0"/>
              </a:rPr>
              <a:t> of this experimental design is </a:t>
            </a:r>
            <a:r>
              <a:rPr lang="en-US" sz="2000" b="1" dirty="0">
                <a:latin typeface="Times New Roman" panose="02020603050405020304" pitchFamily="18" charset="0"/>
                <a:cs typeface="Times New Roman" panose="02020603050405020304" pitchFamily="18" charset="0"/>
              </a:rPr>
              <a:t>that it enables differences in fertility gradients in the field to be eliminated</a:t>
            </a:r>
            <a:r>
              <a:rPr lang="en-US" sz="2000" dirty="0">
                <a:latin typeface="Times New Roman" panose="02020603050405020304" pitchFamily="18" charset="0"/>
                <a:cs typeface="Times New Roman" panose="02020603050405020304" pitchFamily="18" charset="0"/>
              </a:rPr>
              <a:t> in comparison to the effects of different varieties of fertilizers on the yield of the crop.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But in </a:t>
            </a:r>
            <a:r>
              <a:rPr lang="en-US" sz="2000" dirty="0">
                <a:latin typeface="Times New Roman" panose="02020603050405020304" pitchFamily="18" charset="0"/>
                <a:cs typeface="Times New Roman" panose="02020603050405020304" pitchFamily="18" charset="0"/>
              </a:rPr>
              <a:t>L.S. design we must assume that there is no interaction between treatments and blocking factors.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Another </a:t>
            </a:r>
            <a:r>
              <a:rPr lang="en-US" sz="2000" b="1" dirty="0">
                <a:latin typeface="Times New Roman" panose="02020603050405020304" pitchFamily="18" charset="0"/>
                <a:cs typeface="Times New Roman" panose="02020603050405020304" pitchFamily="18" charset="0"/>
              </a:rPr>
              <a:t>limitation of this design is that it requires number of rows, columns and treatments to be equal. This reduces the utility of this design</a:t>
            </a:r>
            <a:r>
              <a:rPr lang="en-US" sz="2000" b="1" dirty="0" smtClean="0">
                <a:latin typeface="Times New Roman" panose="02020603050405020304" pitchFamily="18" charset="0"/>
                <a:cs typeface="Times New Roman" panose="02020603050405020304" pitchFamily="18" charset="0"/>
              </a:rPr>
              <a:t>.</a:t>
            </a:r>
          </a:p>
          <a:p>
            <a:pPr algn="just">
              <a:lnSpc>
                <a:spcPct val="120000"/>
              </a:lnSpc>
            </a:pPr>
            <a:r>
              <a:rPr lang="en-US" sz="2000" dirty="0" smtClean="0">
                <a:latin typeface="Times New Roman" panose="02020603050405020304" pitchFamily="18" charset="0"/>
                <a:cs typeface="Times New Roman" panose="02020603050405020304" pitchFamily="18" charset="0"/>
              </a:rPr>
              <a:t>If </a:t>
            </a:r>
            <a:r>
              <a:rPr lang="en-US" sz="2000" dirty="0">
                <a:latin typeface="Times New Roman" panose="02020603050405020304" pitchFamily="18" charset="0"/>
                <a:cs typeface="Times New Roman" panose="02020603050405020304" pitchFamily="18" charset="0"/>
              </a:rPr>
              <a:t>treatments are 10 or more, than each row and each column will be larger in size so that rows and columns may not be homogeneous. </a:t>
            </a:r>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may make the application of the principle of local control ineffective. </a:t>
            </a:r>
            <a:endParaRPr lang="en-US" sz="2000" dirty="0" smtClean="0">
              <a:latin typeface="Times New Roman" panose="02020603050405020304" pitchFamily="18" charset="0"/>
              <a:cs typeface="Times New Roman" panose="02020603050405020304" pitchFamily="18" charset="0"/>
            </a:endParaRPr>
          </a:p>
          <a:p>
            <a:pPr algn="just">
              <a:lnSpc>
                <a:spcPct val="120000"/>
              </a:lnSpc>
            </a:pPr>
            <a:r>
              <a:rPr lang="en-US" sz="2000" dirty="0" smtClean="0">
                <a:latin typeface="Times New Roman" panose="02020603050405020304" pitchFamily="18" charset="0"/>
                <a:cs typeface="Times New Roman" panose="02020603050405020304" pitchFamily="18" charset="0"/>
              </a:rPr>
              <a:t>Therefore</a:t>
            </a:r>
            <a:r>
              <a:rPr lang="en-US" sz="2000" dirty="0">
                <a:latin typeface="Times New Roman" panose="02020603050405020304" pitchFamily="18" charset="0"/>
                <a:cs typeface="Times New Roman" panose="02020603050405020304" pitchFamily="18" charset="0"/>
              </a:rPr>
              <a:t>, L.S. design of orders (5 × 5) to (9 × 9) are generally used.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0688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2953</TotalTime>
  <Words>2311</Words>
  <Application>Microsoft Office PowerPoint</Application>
  <PresentationFormat>Widescreen</PresentationFormat>
  <Paragraphs>143</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Roboto</vt:lpstr>
      <vt:lpstr>Times New Roman</vt:lpstr>
      <vt:lpstr>Office Theme</vt:lpstr>
      <vt:lpstr>Module 3 EXPERIMENTAL DESIGNS </vt:lpstr>
      <vt:lpstr>  Basic principles of experimental designs   </vt:lpstr>
      <vt:lpstr>Principle of Replication</vt:lpstr>
      <vt:lpstr>Principle of Randomization</vt:lpstr>
      <vt:lpstr>Principle of Local Control</vt:lpstr>
      <vt:lpstr>PowerPoint Presentation</vt:lpstr>
      <vt:lpstr>PowerPoint Presentation</vt:lpstr>
      <vt:lpstr>PowerPoint Presentation</vt:lpstr>
      <vt:lpstr>PowerPoint Presentation</vt:lpstr>
      <vt:lpstr>PowerPoint Presentation</vt:lpstr>
      <vt:lpstr>Important Experimental Designs</vt:lpstr>
      <vt:lpstr>Informal experimental designs: </vt:lpstr>
      <vt:lpstr>Before-and-after without control design: </vt:lpstr>
      <vt:lpstr>After-only with control design:</vt:lpstr>
      <vt:lpstr>Before-and-after with control design:</vt:lpstr>
      <vt:lpstr>Formal experimental designs</vt:lpstr>
      <vt:lpstr>Completely randomized design (C.R. Design). </vt:lpstr>
      <vt:lpstr>PowerPoint Presentation</vt:lpstr>
      <vt:lpstr>PowerPoint Presentation</vt:lpstr>
      <vt:lpstr>PowerPoint Presentation</vt:lpstr>
      <vt:lpstr>PowerPoint Presentation</vt:lpstr>
      <vt:lpstr>Randomized block design (R.B. design) </vt:lpstr>
      <vt:lpstr>PowerPoint Presentation</vt:lpstr>
      <vt:lpstr>Latin square design (L.S. design)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Part 2- Protection of Transmission Lines</dc:title>
  <dc:creator>91884</dc:creator>
  <cp:lastModifiedBy>Microsoft account</cp:lastModifiedBy>
  <cp:revision>197</cp:revision>
  <dcterms:created xsi:type="dcterms:W3CDTF">2020-12-16T17:31:20Z</dcterms:created>
  <dcterms:modified xsi:type="dcterms:W3CDTF">2023-01-19T03:46:45Z</dcterms:modified>
</cp:coreProperties>
</file>