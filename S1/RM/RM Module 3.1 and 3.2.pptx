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6" r:id="rId2"/>
    <p:sldId id="311"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82" r:id="rId23"/>
    <p:sldId id="276" r:id="rId24"/>
    <p:sldId id="283" r:id="rId25"/>
    <p:sldId id="277" r:id="rId26"/>
    <p:sldId id="278" r:id="rId27"/>
    <p:sldId id="284" r:id="rId28"/>
    <p:sldId id="279" r:id="rId29"/>
    <p:sldId id="280" r:id="rId30"/>
    <p:sldId id="281" r:id="rId31"/>
    <p:sldId id="285" r:id="rId32"/>
    <p:sldId id="286" r:id="rId33"/>
    <p:sldId id="287" r:id="rId34"/>
    <p:sldId id="288" r:id="rId35"/>
    <p:sldId id="289" r:id="rId36"/>
    <p:sldId id="290" r:id="rId37"/>
    <p:sldId id="291" r:id="rId38"/>
    <p:sldId id="292" r:id="rId39"/>
    <p:sldId id="293" r:id="rId40"/>
    <p:sldId id="294" r:id="rId41"/>
    <p:sldId id="300" r:id="rId42"/>
    <p:sldId id="301" r:id="rId43"/>
    <p:sldId id="302" r:id="rId44"/>
    <p:sldId id="295" r:id="rId45"/>
    <p:sldId id="299" r:id="rId46"/>
    <p:sldId id="298" r:id="rId47"/>
    <p:sldId id="297" r:id="rId48"/>
    <p:sldId id="303" r:id="rId49"/>
    <p:sldId id="304" r:id="rId50"/>
    <p:sldId id="305" r:id="rId51"/>
    <p:sldId id="306" r:id="rId52"/>
    <p:sldId id="307" r:id="rId53"/>
    <p:sldId id="308" r:id="rId54"/>
    <p:sldId id="309" r:id="rId55"/>
    <p:sldId id="310"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64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2695D-99A4-417A-B140-372CB64886C3}" type="datetimeFigureOut">
              <a:rPr lang="en-IN" smtClean="0"/>
              <a:t>12-01-2023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9778E2-BD19-487D-88BF-8A25C7A73804}" type="slidenum">
              <a:rPr lang="en-IN" smtClean="0"/>
              <a:t>‹#›</a:t>
            </a:fld>
            <a:endParaRPr lang="en-IN"/>
          </a:p>
        </p:txBody>
      </p:sp>
    </p:spTree>
    <p:extLst>
      <p:ext uri="{BB962C8B-B14F-4D97-AF65-F5344CB8AC3E}">
        <p14:creationId xmlns:p14="http://schemas.microsoft.com/office/powerpoint/2010/main" val="3203482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D9778E2-BD19-487D-88BF-8A25C7A73804}" type="slidenum">
              <a:rPr lang="en-IN" smtClean="0"/>
              <a:t>43</a:t>
            </a:fld>
            <a:endParaRPr lang="en-IN"/>
          </a:p>
        </p:txBody>
      </p:sp>
    </p:spTree>
    <p:extLst>
      <p:ext uri="{BB962C8B-B14F-4D97-AF65-F5344CB8AC3E}">
        <p14:creationId xmlns:p14="http://schemas.microsoft.com/office/powerpoint/2010/main" val="490398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1DC3CCA-9C87-447C-A1D1-DAC8FA6A3900}" type="datetimeFigureOut">
              <a:rPr lang="en-IN" smtClean="0"/>
              <a:t>12-01-2023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8CD24E-A587-4478-9CB6-F8AFCA93524C}" type="slidenum">
              <a:rPr lang="en-IN" smtClean="0"/>
              <a:t>‹#›</a:t>
            </a:fld>
            <a:endParaRPr lang="en-IN"/>
          </a:p>
        </p:txBody>
      </p:sp>
    </p:spTree>
    <p:extLst>
      <p:ext uri="{BB962C8B-B14F-4D97-AF65-F5344CB8AC3E}">
        <p14:creationId xmlns:p14="http://schemas.microsoft.com/office/powerpoint/2010/main" val="188782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1DC3CCA-9C87-447C-A1D1-DAC8FA6A3900}" type="datetimeFigureOut">
              <a:rPr lang="en-IN" smtClean="0"/>
              <a:t>12-01-2023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8CD24E-A587-4478-9CB6-F8AFCA93524C}" type="slidenum">
              <a:rPr lang="en-IN" smtClean="0"/>
              <a:t>‹#›</a:t>
            </a:fld>
            <a:endParaRPr lang="en-IN"/>
          </a:p>
        </p:txBody>
      </p:sp>
    </p:spTree>
    <p:extLst>
      <p:ext uri="{BB962C8B-B14F-4D97-AF65-F5344CB8AC3E}">
        <p14:creationId xmlns:p14="http://schemas.microsoft.com/office/powerpoint/2010/main" val="3210556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1DC3CCA-9C87-447C-A1D1-DAC8FA6A3900}" type="datetimeFigureOut">
              <a:rPr lang="en-IN" smtClean="0"/>
              <a:t>12-01-2023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8CD24E-A587-4478-9CB6-F8AFCA93524C}" type="slidenum">
              <a:rPr lang="en-IN" smtClean="0"/>
              <a:t>‹#›</a:t>
            </a:fld>
            <a:endParaRPr lang="en-IN"/>
          </a:p>
        </p:txBody>
      </p:sp>
    </p:spTree>
    <p:extLst>
      <p:ext uri="{BB962C8B-B14F-4D97-AF65-F5344CB8AC3E}">
        <p14:creationId xmlns:p14="http://schemas.microsoft.com/office/powerpoint/2010/main" val="2636312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1DC3CCA-9C87-447C-A1D1-DAC8FA6A3900}" type="datetimeFigureOut">
              <a:rPr lang="en-IN" smtClean="0"/>
              <a:t>12-01-2023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8CD24E-A587-4478-9CB6-F8AFCA93524C}" type="slidenum">
              <a:rPr lang="en-IN" smtClean="0"/>
              <a:t>‹#›</a:t>
            </a:fld>
            <a:endParaRPr lang="en-IN"/>
          </a:p>
        </p:txBody>
      </p:sp>
    </p:spTree>
    <p:extLst>
      <p:ext uri="{BB962C8B-B14F-4D97-AF65-F5344CB8AC3E}">
        <p14:creationId xmlns:p14="http://schemas.microsoft.com/office/powerpoint/2010/main" val="514272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1DC3CCA-9C87-447C-A1D1-DAC8FA6A3900}" type="datetimeFigureOut">
              <a:rPr lang="en-IN" smtClean="0"/>
              <a:t>12-01-2023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88CD24E-A587-4478-9CB6-F8AFCA93524C}" type="slidenum">
              <a:rPr lang="en-IN" smtClean="0"/>
              <a:t>‹#›</a:t>
            </a:fld>
            <a:endParaRPr lang="en-IN"/>
          </a:p>
        </p:txBody>
      </p:sp>
    </p:spTree>
    <p:extLst>
      <p:ext uri="{BB962C8B-B14F-4D97-AF65-F5344CB8AC3E}">
        <p14:creationId xmlns:p14="http://schemas.microsoft.com/office/powerpoint/2010/main" val="2438138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1DC3CCA-9C87-447C-A1D1-DAC8FA6A3900}" type="datetimeFigureOut">
              <a:rPr lang="en-IN" smtClean="0"/>
              <a:t>12-01-2023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88CD24E-A587-4478-9CB6-F8AFCA93524C}" type="slidenum">
              <a:rPr lang="en-IN" smtClean="0"/>
              <a:t>‹#›</a:t>
            </a:fld>
            <a:endParaRPr lang="en-IN"/>
          </a:p>
        </p:txBody>
      </p:sp>
    </p:spTree>
    <p:extLst>
      <p:ext uri="{BB962C8B-B14F-4D97-AF65-F5344CB8AC3E}">
        <p14:creationId xmlns:p14="http://schemas.microsoft.com/office/powerpoint/2010/main" val="687033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DC3CCA-9C87-447C-A1D1-DAC8FA6A3900}" type="datetimeFigureOut">
              <a:rPr lang="en-IN" smtClean="0"/>
              <a:t>12-01-2023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88CD24E-A587-4478-9CB6-F8AFCA93524C}" type="slidenum">
              <a:rPr lang="en-IN" smtClean="0"/>
              <a:t>‹#›</a:t>
            </a:fld>
            <a:endParaRPr lang="en-IN"/>
          </a:p>
        </p:txBody>
      </p:sp>
    </p:spTree>
    <p:extLst>
      <p:ext uri="{BB962C8B-B14F-4D97-AF65-F5344CB8AC3E}">
        <p14:creationId xmlns:p14="http://schemas.microsoft.com/office/powerpoint/2010/main" val="3898139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DC3CCA-9C87-447C-A1D1-DAC8FA6A3900}" type="datetimeFigureOut">
              <a:rPr lang="en-IN" smtClean="0"/>
              <a:t>12-01-2023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8CD24E-A587-4478-9CB6-F8AFCA93524C}" type="slidenum">
              <a:rPr lang="en-IN" smtClean="0"/>
              <a:t>‹#›</a:t>
            </a:fld>
            <a:endParaRPr lang="en-IN"/>
          </a:p>
        </p:txBody>
      </p:sp>
    </p:spTree>
    <p:extLst>
      <p:ext uri="{BB962C8B-B14F-4D97-AF65-F5344CB8AC3E}">
        <p14:creationId xmlns:p14="http://schemas.microsoft.com/office/powerpoint/2010/main" val="1430608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DC3CCA-9C87-447C-A1D1-DAC8FA6A3900}" type="datetimeFigureOut">
              <a:rPr lang="en-IN" smtClean="0"/>
              <a:t>12-01-2023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8CD24E-A587-4478-9CB6-F8AFCA93524C}" type="slidenum">
              <a:rPr lang="en-IN" smtClean="0"/>
              <a:t>‹#›</a:t>
            </a:fld>
            <a:endParaRPr lang="en-IN"/>
          </a:p>
        </p:txBody>
      </p:sp>
    </p:spTree>
    <p:extLst>
      <p:ext uri="{BB962C8B-B14F-4D97-AF65-F5344CB8AC3E}">
        <p14:creationId xmlns:p14="http://schemas.microsoft.com/office/powerpoint/2010/main" val="881258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1DC3CCA-9C87-447C-A1D1-DAC8FA6A3900}" type="datetimeFigureOut">
              <a:rPr lang="en-IN" smtClean="0"/>
              <a:t>12-01-2023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8CD24E-A587-4478-9CB6-F8AFCA93524C}" type="slidenum">
              <a:rPr lang="en-IN" smtClean="0"/>
              <a:t>‹#›</a:t>
            </a:fld>
            <a:endParaRPr lang="en-IN"/>
          </a:p>
        </p:txBody>
      </p:sp>
    </p:spTree>
    <p:extLst>
      <p:ext uri="{BB962C8B-B14F-4D97-AF65-F5344CB8AC3E}">
        <p14:creationId xmlns:p14="http://schemas.microsoft.com/office/powerpoint/2010/main" val="2362807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1DC3CCA-9C87-447C-A1D1-DAC8FA6A3900}" type="datetimeFigureOut">
              <a:rPr lang="en-IN" smtClean="0"/>
              <a:t>12-01-2023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8CD24E-A587-4478-9CB6-F8AFCA93524C}" type="slidenum">
              <a:rPr lang="en-IN" smtClean="0"/>
              <a:t>‹#›</a:t>
            </a:fld>
            <a:endParaRPr lang="en-IN"/>
          </a:p>
        </p:txBody>
      </p:sp>
    </p:spTree>
    <p:extLst>
      <p:ext uri="{BB962C8B-B14F-4D97-AF65-F5344CB8AC3E}">
        <p14:creationId xmlns:p14="http://schemas.microsoft.com/office/powerpoint/2010/main" val="2958632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DC3CCA-9C87-447C-A1D1-DAC8FA6A3900}" type="datetimeFigureOut">
              <a:rPr lang="en-IN" smtClean="0"/>
              <a:t>12-01-2023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8CD24E-A587-4478-9CB6-F8AFCA93524C}" type="slidenum">
              <a:rPr lang="en-IN" smtClean="0"/>
              <a:t>‹#›</a:t>
            </a:fld>
            <a:endParaRPr lang="en-IN"/>
          </a:p>
        </p:txBody>
      </p:sp>
    </p:spTree>
    <p:extLst>
      <p:ext uri="{BB962C8B-B14F-4D97-AF65-F5344CB8AC3E}">
        <p14:creationId xmlns:p14="http://schemas.microsoft.com/office/powerpoint/2010/main" val="9367892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byjus.com/physics/hypothesi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scribbr.com/methodology/independent-and-dependent-variables/#independent" TargetMode="External"/><Relationship Id="rId2" Type="http://schemas.openxmlformats.org/officeDocument/2006/relationships/hyperlink" Target="https://www.scribbr.com/methodology/types-of-variables/" TargetMode="External"/><Relationship Id="rId1" Type="http://schemas.openxmlformats.org/officeDocument/2006/relationships/slideLayout" Target="../slideLayouts/slideLayout2.xml"/><Relationship Id="rId4" Type="http://schemas.openxmlformats.org/officeDocument/2006/relationships/hyperlink" Target="https://www.scribbr.com/methodology/independent-and-dependent-variables/#dependent"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scribbr.com/methodology/explanatory-and-response-variables/" TargetMode="External"/><Relationship Id="rId2" Type="http://schemas.openxmlformats.org/officeDocument/2006/relationships/hyperlink" Target="https://www.scribbr.com/methodology/experimental-design/" TargetMode="External"/><Relationship Id="rId1" Type="http://schemas.openxmlformats.org/officeDocument/2006/relationships/slideLayout" Target="../slideLayouts/slideLayout2.xml"/><Relationship Id="rId5" Type="http://schemas.openxmlformats.org/officeDocument/2006/relationships/hyperlink" Target="https://www.scribbr.com/category/statistics/" TargetMode="External"/><Relationship Id="rId4" Type="http://schemas.openxmlformats.org/officeDocument/2006/relationships/hyperlink" Target="https://www.scribbr.com/statistics/simple-linear-regression/"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scribbr.com/methodology/random-assignment/" TargetMode="External"/><Relationship Id="rId2" Type="http://schemas.openxmlformats.org/officeDocument/2006/relationships/hyperlink" Target="https://www.scribbr.com/commonly-confused-words/affect-vs-effect/" TargetMode="External"/><Relationship Id="rId1" Type="http://schemas.openxmlformats.org/officeDocument/2006/relationships/slideLayout" Target="../slideLayouts/slideLayout2.xml"/><Relationship Id="rId4" Type="http://schemas.openxmlformats.org/officeDocument/2006/relationships/hyperlink" Target="https://www.scribbr.com/research-bias/placebo-effect/"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scribbr.com/faq-category/research-bias/" TargetMode="External"/><Relationship Id="rId2" Type="http://schemas.openxmlformats.org/officeDocument/2006/relationships/hyperlink" Target="https://www.scribbr.com/methodology/quasi-experimental-design/" TargetMode="External"/><Relationship Id="rId1" Type="http://schemas.openxmlformats.org/officeDocument/2006/relationships/slideLayout" Target="../slideLayouts/slideLayout2.xml"/><Relationship Id="rId5" Type="http://schemas.openxmlformats.org/officeDocument/2006/relationships/hyperlink" Target="https://www.scribbr.com/research-bias/sampling-bias/" TargetMode="External"/><Relationship Id="rId4" Type="http://schemas.openxmlformats.org/officeDocument/2006/relationships/hyperlink" Target="https://www.scribbr.com/research-bias/selection-bias/" TargetMode="External"/></Relationships>
</file>

<file path=ppt/slides/_rels/slide22.xml.rels><?xml version="1.0" encoding="UTF-8" standalone="yes"?>
<Relationships xmlns="http://schemas.openxmlformats.org/package/2006/relationships"><Relationship Id="rId2" Type="http://schemas.openxmlformats.org/officeDocument/2006/relationships/hyperlink" Target="https://www.scribbr.com/statistics/statistical-significance/"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scribbr.com/methodology/explanatory-and-response-variables/" TargetMode="External"/><Relationship Id="rId2" Type="http://schemas.openxmlformats.org/officeDocument/2006/relationships/hyperlink" Target="https://www.scribbr.com/category/statistic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sciencetrends.com/placebo-its-all-about-ethic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semanticscholar.org/paper/Uncertainty-in-Deep-Learning-Gal/3c623c08329e129e784a5d03f7606ec8feba3a28"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hyperlink" Target="https://testbook.com/learn/physics-temperature/"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testbook.com/learn/maths-volume/"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testbook.com/learn/environment/"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25299"/>
            <a:ext cx="9144000" cy="2387600"/>
          </a:xfrm>
        </p:spPr>
        <p:txBody>
          <a:bodyPr>
            <a:normAutofit fontScale="90000"/>
          </a:bodyPr>
          <a:lstStyle/>
          <a:p>
            <a:r>
              <a:rPr lang="en-IN" b="1" dirty="0"/>
              <a:t>Experimental and modelling skills </a:t>
            </a:r>
            <a:r>
              <a:rPr lang="en-IN" dirty="0"/>
              <a:t>	</a:t>
            </a:r>
            <a:br>
              <a:rPr lang="en-IN" dirty="0"/>
            </a:br>
            <a:endParaRPr lang="en-IN" dirty="0"/>
          </a:p>
        </p:txBody>
      </p:sp>
    </p:spTree>
    <p:extLst>
      <p:ext uri="{BB962C8B-B14F-4D97-AF65-F5344CB8AC3E}">
        <p14:creationId xmlns:p14="http://schemas.microsoft.com/office/powerpoint/2010/main" val="797258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2316033" y="600847"/>
            <a:ext cx="7431281" cy="5634815"/>
          </a:xfrm>
          <a:prstGeom prst="rect">
            <a:avLst/>
          </a:prstGeom>
        </p:spPr>
      </p:pic>
    </p:spTree>
    <p:extLst>
      <p:ext uri="{BB962C8B-B14F-4D97-AF65-F5344CB8AC3E}">
        <p14:creationId xmlns:p14="http://schemas.microsoft.com/office/powerpoint/2010/main" val="483844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Scientific method 	</a:t>
            </a:r>
            <a:br>
              <a:rPr lang="en-IN" dirty="0"/>
            </a:br>
            <a:endParaRPr lang="en-IN" dirty="0"/>
          </a:p>
        </p:txBody>
      </p:sp>
      <p:sp>
        <p:nvSpPr>
          <p:cNvPr id="3" name="Content Placeholder 2"/>
          <p:cNvSpPr>
            <a:spLocks noGrp="1"/>
          </p:cNvSpPr>
          <p:nvPr>
            <p:ph idx="1"/>
          </p:nvPr>
        </p:nvSpPr>
        <p:spPr/>
        <p:txBody>
          <a:bodyPr/>
          <a:lstStyle/>
          <a:p>
            <a:r>
              <a:rPr lang="en-US" dirty="0"/>
              <a:t>The Scientific method is a process with the help of which scientists try to investigate, verify, or construct an accurate and reliable version of any natural phenomena</a:t>
            </a:r>
            <a:r>
              <a:rPr lang="en-US" dirty="0" smtClean="0"/>
              <a:t>.</a:t>
            </a:r>
          </a:p>
          <a:p>
            <a:r>
              <a:rPr lang="en-US" dirty="0" smtClean="0"/>
              <a:t> </a:t>
            </a:r>
            <a:r>
              <a:rPr lang="en-US" dirty="0"/>
              <a:t>They are done by creating an objective framework for the purpose of scientific inquiry and </a:t>
            </a:r>
            <a:r>
              <a:rPr lang="en-US" dirty="0" err="1"/>
              <a:t>analysing</a:t>
            </a:r>
            <a:r>
              <a:rPr lang="en-US" dirty="0"/>
              <a:t> the results scientifically to come to a conclusion that either supports or contradicts the observation made at the beginning.</a:t>
            </a:r>
            <a:endParaRPr lang="en-IN" dirty="0"/>
          </a:p>
        </p:txBody>
      </p:sp>
    </p:spTree>
    <p:extLst>
      <p:ext uri="{BB962C8B-B14F-4D97-AF65-F5344CB8AC3E}">
        <p14:creationId xmlns:p14="http://schemas.microsoft.com/office/powerpoint/2010/main" val="3053964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Scientific Method Steps</a:t>
            </a:r>
            <a:br>
              <a:rPr lang="en-IN" dirty="0"/>
            </a:br>
            <a:endParaRPr lang="en-IN" dirty="0"/>
          </a:p>
        </p:txBody>
      </p:sp>
      <p:sp>
        <p:nvSpPr>
          <p:cNvPr id="3" name="Content Placeholder 2"/>
          <p:cNvSpPr>
            <a:spLocks noGrp="1"/>
          </p:cNvSpPr>
          <p:nvPr>
            <p:ph idx="1"/>
          </p:nvPr>
        </p:nvSpPr>
        <p:spPr/>
        <p:txBody>
          <a:bodyPr>
            <a:normAutofit fontScale="70000" lnSpcReduction="20000"/>
          </a:bodyPr>
          <a:lstStyle/>
          <a:p>
            <a:r>
              <a:rPr lang="en-US" b="1" dirty="0"/>
              <a:t>Observation and formulation of a question:</a:t>
            </a:r>
            <a:r>
              <a:rPr lang="en-US" dirty="0"/>
              <a:t> This is the first step of a scientific method. To start one, an observation has to be made into any observable aspect or phenomena of the universe, and a question needs to be asked about that aspect. For example, you can ask, “Why is the sky black at night? or “Why is air invisible?”</a:t>
            </a:r>
          </a:p>
          <a:p>
            <a:r>
              <a:rPr lang="en-US" b="1" dirty="0"/>
              <a:t>Data Collection and Hypothesis: </a:t>
            </a:r>
            <a:r>
              <a:rPr lang="en-US" dirty="0"/>
              <a:t>The next step involved in the scientific method is to collect all related data and formulate a hypothesis based on the observation. The </a:t>
            </a:r>
            <a:r>
              <a:rPr lang="en-US" dirty="0">
                <a:hlinkClick r:id="rId2"/>
              </a:rPr>
              <a:t>hypothesis</a:t>
            </a:r>
            <a:r>
              <a:rPr lang="en-US" dirty="0"/>
              <a:t> could be the cause of the phenomena, its effect, or its relation to any other phenomena.</a:t>
            </a:r>
          </a:p>
          <a:p>
            <a:r>
              <a:rPr lang="en-US" b="1" dirty="0"/>
              <a:t>Testing the hypothesis: </a:t>
            </a:r>
            <a:r>
              <a:rPr lang="en-US" dirty="0"/>
              <a:t>After the hypothesis is made, it needs to be tested scientifically. Scientists do this by conducting experiments. The aim of these experiments is to determine whether the hypothesis agrees with or contradicts the observations made in the real world. The confidence in the hypothesis increases or decreases based on the result of the experiments.</a:t>
            </a:r>
          </a:p>
          <a:p>
            <a:r>
              <a:rPr lang="en-US" b="1" dirty="0"/>
              <a:t>Analysis and Conclusion: </a:t>
            </a:r>
            <a:r>
              <a:rPr lang="en-US" dirty="0"/>
              <a:t>This step involves the use of proper mathematical and other scientific procedures to determine the results of the experiment. Based on the analysis, the future course of action can be determined. If the data found in the analysis is consistent with the hypothesis, it is accepted. If not, then it is rejected or modified and </a:t>
            </a:r>
            <a:r>
              <a:rPr lang="en-US" dirty="0" err="1"/>
              <a:t>analysed</a:t>
            </a:r>
            <a:r>
              <a:rPr lang="en-US" dirty="0"/>
              <a:t> again.</a:t>
            </a:r>
          </a:p>
          <a:p>
            <a:endParaRPr lang="en-IN" dirty="0"/>
          </a:p>
        </p:txBody>
      </p:sp>
    </p:spTree>
    <p:extLst>
      <p:ext uri="{BB962C8B-B14F-4D97-AF65-F5344CB8AC3E}">
        <p14:creationId xmlns:p14="http://schemas.microsoft.com/office/powerpoint/2010/main" val="1287545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Scientific Metho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10755" y="1908984"/>
            <a:ext cx="5303960" cy="347372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38200" y="2328497"/>
            <a:ext cx="6096000" cy="2031325"/>
          </a:xfrm>
          <a:prstGeom prst="rect">
            <a:avLst/>
          </a:prstGeom>
        </p:spPr>
        <p:txBody>
          <a:bodyPr>
            <a:spAutoFit/>
          </a:bodyPr>
          <a:lstStyle/>
          <a:p>
            <a:pPr fontAlgn="base">
              <a:buFont typeface="+mj-lt"/>
              <a:buAutoNum type="arabicPeriod"/>
            </a:pPr>
            <a:r>
              <a:rPr lang="en-US" b="0" i="0" dirty="0" smtClean="0">
                <a:solidFill>
                  <a:srgbClr val="21242C"/>
                </a:solidFill>
                <a:effectLst/>
                <a:latin typeface="Lato"/>
              </a:rPr>
              <a:t>Make an observation.</a:t>
            </a:r>
          </a:p>
          <a:p>
            <a:pPr fontAlgn="base">
              <a:buFont typeface="+mj-lt"/>
              <a:buAutoNum type="arabicPeriod"/>
            </a:pPr>
            <a:r>
              <a:rPr lang="en-US" b="0" i="0" dirty="0" smtClean="0">
                <a:solidFill>
                  <a:srgbClr val="21242C"/>
                </a:solidFill>
                <a:effectLst/>
                <a:latin typeface="Lato"/>
              </a:rPr>
              <a:t>Ask a question.</a:t>
            </a:r>
          </a:p>
          <a:p>
            <a:pPr fontAlgn="base">
              <a:buFont typeface="+mj-lt"/>
              <a:buAutoNum type="arabicPeriod"/>
            </a:pPr>
            <a:r>
              <a:rPr lang="en-US" b="0" i="0" dirty="0" smtClean="0">
                <a:solidFill>
                  <a:srgbClr val="21242C"/>
                </a:solidFill>
                <a:effectLst/>
                <a:latin typeface="Lato"/>
              </a:rPr>
              <a:t>Form a </a:t>
            </a:r>
            <a:r>
              <a:rPr lang="en-US" b="1" i="0" dirty="0" smtClean="0">
                <a:solidFill>
                  <a:srgbClr val="21242C"/>
                </a:solidFill>
                <a:effectLst/>
                <a:latin typeface="inherit"/>
              </a:rPr>
              <a:t>hypothesis</a:t>
            </a:r>
            <a:r>
              <a:rPr lang="en-US" b="0" i="0" dirty="0" smtClean="0">
                <a:solidFill>
                  <a:srgbClr val="21242C"/>
                </a:solidFill>
                <a:effectLst/>
                <a:latin typeface="Lato"/>
              </a:rPr>
              <a:t>, or testable explanation.</a:t>
            </a:r>
          </a:p>
          <a:p>
            <a:pPr fontAlgn="base">
              <a:buFont typeface="+mj-lt"/>
              <a:buAutoNum type="arabicPeriod"/>
            </a:pPr>
            <a:r>
              <a:rPr lang="en-US" b="0" i="0" dirty="0" smtClean="0">
                <a:solidFill>
                  <a:srgbClr val="21242C"/>
                </a:solidFill>
                <a:effectLst/>
                <a:latin typeface="Lato"/>
              </a:rPr>
              <a:t>Make a prediction based on the hypothesis.</a:t>
            </a:r>
          </a:p>
          <a:p>
            <a:pPr fontAlgn="base">
              <a:buFont typeface="+mj-lt"/>
              <a:buAutoNum type="arabicPeriod"/>
            </a:pPr>
            <a:r>
              <a:rPr lang="en-US" b="0" i="0" dirty="0" smtClean="0">
                <a:solidFill>
                  <a:srgbClr val="21242C"/>
                </a:solidFill>
                <a:effectLst/>
                <a:latin typeface="Lato"/>
              </a:rPr>
              <a:t>Test the prediction.</a:t>
            </a:r>
          </a:p>
          <a:p>
            <a:pPr fontAlgn="base">
              <a:buFont typeface="+mj-lt"/>
              <a:buAutoNum type="arabicPeriod"/>
            </a:pPr>
            <a:r>
              <a:rPr lang="en-US" b="0" i="0" dirty="0" smtClean="0">
                <a:solidFill>
                  <a:srgbClr val="21242C"/>
                </a:solidFill>
                <a:effectLst/>
                <a:latin typeface="Lato"/>
              </a:rPr>
              <a:t>Iterate: use the results to make new hypotheses or predictions.</a:t>
            </a:r>
            <a:endParaRPr lang="en-US" b="0" i="0" dirty="0">
              <a:solidFill>
                <a:srgbClr val="21242C"/>
              </a:solidFill>
              <a:effectLst/>
              <a:latin typeface="Lato"/>
            </a:endParaRPr>
          </a:p>
        </p:txBody>
      </p:sp>
    </p:spTree>
    <p:extLst>
      <p:ext uri="{BB962C8B-B14F-4D97-AF65-F5344CB8AC3E}">
        <p14:creationId xmlns:p14="http://schemas.microsoft.com/office/powerpoint/2010/main" val="883227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Scientific Method Examples</a:t>
            </a:r>
            <a:br>
              <a:rPr lang="en-IN" dirty="0"/>
            </a:br>
            <a:endParaRPr lang="en-IN" dirty="0"/>
          </a:p>
        </p:txBody>
      </p:sp>
      <p:sp>
        <p:nvSpPr>
          <p:cNvPr id="3" name="Content Placeholder 2"/>
          <p:cNvSpPr>
            <a:spLocks noGrp="1"/>
          </p:cNvSpPr>
          <p:nvPr>
            <p:ph idx="1"/>
          </p:nvPr>
        </p:nvSpPr>
        <p:spPr/>
        <p:txBody>
          <a:bodyPr>
            <a:normAutofit fontScale="70000" lnSpcReduction="20000"/>
          </a:bodyPr>
          <a:lstStyle/>
          <a:p>
            <a:r>
              <a:rPr lang="en-US" b="1" dirty="0"/>
              <a:t>Growing bean plants:</a:t>
            </a:r>
            <a:endParaRPr lang="en-US" dirty="0"/>
          </a:p>
          <a:p>
            <a:r>
              <a:rPr lang="en-US" b="1" dirty="0"/>
              <a:t>What is the purpose:</a:t>
            </a:r>
            <a:r>
              <a:rPr lang="en-US" dirty="0"/>
              <a:t> The main purpose of this experiment is to know where the bean plant should be kept inside or outside to check the growth rate and also set the time frame as four weeks.</a:t>
            </a:r>
          </a:p>
          <a:p>
            <a:r>
              <a:rPr lang="en-US" b="1" dirty="0"/>
              <a:t>Construction of hypothesis:</a:t>
            </a:r>
            <a:r>
              <a:rPr lang="en-US" dirty="0"/>
              <a:t> The hypothesis used is that the bean plant can grow anywhere if the scientific methods are used.</a:t>
            </a:r>
          </a:p>
          <a:p>
            <a:r>
              <a:rPr lang="en-US" b="1" dirty="0"/>
              <a:t>Executing the hypothesis and collecting the data:</a:t>
            </a:r>
            <a:r>
              <a:rPr lang="en-US" dirty="0"/>
              <a:t> Four bean plants are planted in identical pots using the same soil. Two are placed inside, and the other two are placed outside. Parameters like the amount of exposure to sunlight, and amount of water all are the same. After the completion of four weeks, all four plant sizes are measured.</a:t>
            </a:r>
          </a:p>
          <a:p>
            <a:r>
              <a:rPr lang="en-US" b="1" dirty="0" err="1"/>
              <a:t>Analyse</a:t>
            </a:r>
            <a:r>
              <a:rPr lang="en-US" b="1" dirty="0"/>
              <a:t> the data: </a:t>
            </a:r>
            <a:r>
              <a:rPr lang="en-US" dirty="0"/>
              <a:t>While </a:t>
            </a:r>
            <a:r>
              <a:rPr lang="en-US" dirty="0" err="1"/>
              <a:t>analysing</a:t>
            </a:r>
            <a:r>
              <a:rPr lang="en-US" dirty="0"/>
              <a:t> the data, the average height of plants should be taken into account from both places to determine which environment is more suitable for growing the bean plants.</a:t>
            </a:r>
          </a:p>
          <a:p>
            <a:r>
              <a:rPr lang="en-US" b="1" dirty="0"/>
              <a:t>Conclusion: </a:t>
            </a:r>
            <a:r>
              <a:rPr lang="en-US" dirty="0"/>
              <a:t>The conclusion is drawn after analyzing the data.</a:t>
            </a:r>
          </a:p>
          <a:p>
            <a:r>
              <a:rPr lang="en-US" b="1" dirty="0"/>
              <a:t>Results: </a:t>
            </a:r>
            <a:r>
              <a:rPr lang="en-US" dirty="0"/>
              <a:t>Results can be reported in the form of a tabular form.</a:t>
            </a:r>
          </a:p>
          <a:p>
            <a:endParaRPr lang="en-IN" dirty="0"/>
          </a:p>
        </p:txBody>
      </p:sp>
    </p:spTree>
    <p:extLst>
      <p:ext uri="{BB962C8B-B14F-4D97-AF65-F5344CB8AC3E}">
        <p14:creationId xmlns:p14="http://schemas.microsoft.com/office/powerpoint/2010/main" val="1582098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Role </a:t>
            </a:r>
            <a:r>
              <a:rPr lang="en-US" dirty="0"/>
              <a:t>of hypothesis in experiment 	</a:t>
            </a:r>
            <a:br>
              <a:rPr lang="en-US" dirty="0"/>
            </a:br>
            <a:endParaRPr lang="en-IN" dirty="0"/>
          </a:p>
        </p:txBody>
      </p:sp>
      <p:sp>
        <p:nvSpPr>
          <p:cNvPr id="3" name="Content Placeholder 2"/>
          <p:cNvSpPr>
            <a:spLocks noGrp="1"/>
          </p:cNvSpPr>
          <p:nvPr>
            <p:ph idx="1"/>
          </p:nvPr>
        </p:nvSpPr>
        <p:spPr/>
        <p:txBody>
          <a:bodyPr/>
          <a:lstStyle/>
          <a:p>
            <a:r>
              <a:rPr lang="en-US" dirty="0"/>
              <a:t>A hypothesis is an assumption that is made based on some evidence. This is the initial point of any investigation that translates the research questions into predictions. </a:t>
            </a:r>
            <a:endParaRPr lang="en-US" dirty="0" smtClean="0"/>
          </a:p>
          <a:p>
            <a:r>
              <a:rPr lang="en-US" dirty="0" smtClean="0"/>
              <a:t>It </a:t>
            </a:r>
            <a:r>
              <a:rPr lang="en-US" dirty="0"/>
              <a:t>includes components like variables, population and the relation between the variables</a:t>
            </a:r>
            <a:r>
              <a:rPr lang="en-US" dirty="0" smtClean="0"/>
              <a:t>.</a:t>
            </a:r>
          </a:p>
          <a:p>
            <a:r>
              <a:rPr lang="en-US" dirty="0" smtClean="0"/>
              <a:t> </a:t>
            </a:r>
            <a:r>
              <a:rPr lang="en-US" dirty="0"/>
              <a:t>A research hypothesis is a hypothesis that is used to test the relationship between two or more variables.</a:t>
            </a:r>
            <a:endParaRPr lang="en-IN" dirty="0"/>
          </a:p>
        </p:txBody>
      </p:sp>
    </p:spTree>
    <p:extLst>
      <p:ext uri="{BB962C8B-B14F-4D97-AF65-F5344CB8AC3E}">
        <p14:creationId xmlns:p14="http://schemas.microsoft.com/office/powerpoint/2010/main" val="1416466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Characteristics of Hypothesis</a:t>
            </a:r>
            <a:br>
              <a:rPr lang="en-IN" dirty="0"/>
            </a:br>
            <a:endParaRPr lang="en-IN" dirty="0"/>
          </a:p>
        </p:txBody>
      </p:sp>
      <p:sp>
        <p:nvSpPr>
          <p:cNvPr id="3" name="Content Placeholder 2"/>
          <p:cNvSpPr>
            <a:spLocks noGrp="1"/>
          </p:cNvSpPr>
          <p:nvPr>
            <p:ph idx="1"/>
          </p:nvPr>
        </p:nvSpPr>
        <p:spPr/>
        <p:txBody>
          <a:bodyPr/>
          <a:lstStyle/>
          <a:p>
            <a:r>
              <a:rPr lang="en-US" dirty="0"/>
              <a:t>The hypothesis should be clear and precise to consider it to be reliable.</a:t>
            </a:r>
          </a:p>
          <a:p>
            <a:r>
              <a:rPr lang="en-US" dirty="0"/>
              <a:t>If the hypothesis is a relational hypothesis, then it should be stating the relationship between variables.</a:t>
            </a:r>
          </a:p>
          <a:p>
            <a:r>
              <a:rPr lang="en-US" dirty="0"/>
              <a:t>The hypothesis must be specific and should have scope for conducting more tests.</a:t>
            </a:r>
          </a:p>
          <a:p>
            <a:r>
              <a:rPr lang="en-US" dirty="0"/>
              <a:t>The way of explanation of the hypothesis must be very simple and it should also be understood that the simplicity of the hypothesis is not related to its significance.</a:t>
            </a:r>
          </a:p>
          <a:p>
            <a:endParaRPr lang="en-IN" dirty="0"/>
          </a:p>
        </p:txBody>
      </p:sp>
    </p:spTree>
    <p:extLst>
      <p:ext uri="{BB962C8B-B14F-4D97-AF65-F5344CB8AC3E}">
        <p14:creationId xmlns:p14="http://schemas.microsoft.com/office/powerpoint/2010/main" val="3058934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Sources of Hypothesis</a:t>
            </a:r>
            <a:br>
              <a:rPr lang="en-IN" dirty="0"/>
            </a:br>
            <a:endParaRPr lang="en-IN" dirty="0"/>
          </a:p>
        </p:txBody>
      </p:sp>
      <p:sp>
        <p:nvSpPr>
          <p:cNvPr id="3" name="Content Placeholder 2"/>
          <p:cNvSpPr>
            <a:spLocks noGrp="1"/>
          </p:cNvSpPr>
          <p:nvPr>
            <p:ph idx="1"/>
          </p:nvPr>
        </p:nvSpPr>
        <p:spPr/>
        <p:txBody>
          <a:bodyPr/>
          <a:lstStyle/>
          <a:p>
            <a:r>
              <a:rPr lang="en-US" dirty="0"/>
              <a:t>The resemblance between the phenomenon.</a:t>
            </a:r>
          </a:p>
          <a:p>
            <a:r>
              <a:rPr lang="en-US" dirty="0"/>
              <a:t>Observations from past studies, present-day experiences and from the competitors.</a:t>
            </a:r>
          </a:p>
          <a:p>
            <a:r>
              <a:rPr lang="en-US" dirty="0"/>
              <a:t>Scientific theories.</a:t>
            </a:r>
          </a:p>
          <a:p>
            <a:r>
              <a:rPr lang="en-US" dirty="0"/>
              <a:t>General patterns that influence the thinking process of people.</a:t>
            </a:r>
          </a:p>
          <a:p>
            <a:endParaRPr lang="en-IN" dirty="0"/>
          </a:p>
        </p:txBody>
      </p:sp>
    </p:spTree>
    <p:extLst>
      <p:ext uri="{BB962C8B-B14F-4D97-AF65-F5344CB8AC3E}">
        <p14:creationId xmlns:p14="http://schemas.microsoft.com/office/powerpoint/2010/main" val="2026570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Hypothesis</a:t>
            </a:r>
            <a:br>
              <a:rPr lang="en-IN" dirty="0"/>
            </a:br>
            <a:endParaRPr lang="en-IN" dirty="0"/>
          </a:p>
        </p:txBody>
      </p:sp>
      <p:sp>
        <p:nvSpPr>
          <p:cNvPr id="3" name="Content Placeholder 2"/>
          <p:cNvSpPr>
            <a:spLocks noGrp="1"/>
          </p:cNvSpPr>
          <p:nvPr>
            <p:ph idx="1"/>
          </p:nvPr>
        </p:nvSpPr>
        <p:spPr/>
        <p:txBody>
          <a:bodyPr/>
          <a:lstStyle/>
          <a:p>
            <a:r>
              <a:rPr lang="en-IN" dirty="0"/>
              <a:t>Simple hypothesis</a:t>
            </a:r>
          </a:p>
          <a:p>
            <a:r>
              <a:rPr lang="en-IN" dirty="0"/>
              <a:t>Complex hypothesis</a:t>
            </a:r>
          </a:p>
          <a:p>
            <a:r>
              <a:rPr lang="en-IN" dirty="0"/>
              <a:t>Directional hypothesis</a:t>
            </a:r>
          </a:p>
          <a:p>
            <a:r>
              <a:rPr lang="en-IN" dirty="0"/>
              <a:t>Non-directional hypothesis</a:t>
            </a:r>
          </a:p>
          <a:p>
            <a:r>
              <a:rPr lang="en-IN" dirty="0"/>
              <a:t>Null hypothesis</a:t>
            </a:r>
          </a:p>
          <a:p>
            <a:r>
              <a:rPr lang="en-IN" dirty="0"/>
              <a:t>Associative and casual hypothesis</a:t>
            </a:r>
          </a:p>
          <a:p>
            <a:endParaRPr lang="en-IN" dirty="0"/>
          </a:p>
        </p:txBody>
      </p:sp>
    </p:spTree>
    <p:extLst>
      <p:ext uri="{BB962C8B-B14F-4D97-AF65-F5344CB8AC3E}">
        <p14:creationId xmlns:p14="http://schemas.microsoft.com/office/powerpoint/2010/main" val="408357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7310" y="618993"/>
            <a:ext cx="10515600" cy="5791233"/>
          </a:xfrm>
        </p:spPr>
        <p:txBody>
          <a:bodyPr>
            <a:normAutofit fontScale="92500" lnSpcReduction="20000"/>
          </a:bodyPr>
          <a:lstStyle/>
          <a:p>
            <a:r>
              <a:rPr lang="en-US" b="1" dirty="0"/>
              <a:t>Simple Hypothesis</a:t>
            </a:r>
          </a:p>
          <a:p>
            <a:r>
              <a:rPr lang="en-US" dirty="0"/>
              <a:t>It shows a relationship between one dependent variable and a single independent variable. For example – If you eat more vegetables, you will lose weight faster. Here, eating more vegetables is an independent variable, while losing weight is the dependent variable.</a:t>
            </a:r>
          </a:p>
          <a:p>
            <a:r>
              <a:rPr lang="en-US" b="1" dirty="0"/>
              <a:t>Complex Hypothesis</a:t>
            </a:r>
          </a:p>
          <a:p>
            <a:r>
              <a:rPr lang="en-US" dirty="0"/>
              <a:t>It shows the relationship between two or more dependent variables and two or more independent variables. Eating more vegetables and fruits leads to weight loss, glowing skin, and reduces the risk of many diseases such as heart disease.</a:t>
            </a:r>
          </a:p>
          <a:p>
            <a:r>
              <a:rPr lang="en-US" b="1" dirty="0"/>
              <a:t>Directional Hypothesis</a:t>
            </a:r>
          </a:p>
          <a:p>
            <a:r>
              <a:rPr lang="en-US" dirty="0"/>
              <a:t>It shows how a researcher is intellectual and committed to a particular outcome. The relationship between the variables can also predict its nature. For example- children aged four years eating proper food over a five-year period are having higher IQ levels than children not having a proper meal. This shows the effect and direction of the effect.</a:t>
            </a:r>
          </a:p>
          <a:p>
            <a:endParaRPr lang="en-IN" dirty="0"/>
          </a:p>
        </p:txBody>
      </p:sp>
    </p:spTree>
    <p:extLst>
      <p:ext uri="{BB962C8B-B14F-4D97-AF65-F5344CB8AC3E}">
        <p14:creationId xmlns:p14="http://schemas.microsoft.com/office/powerpoint/2010/main" val="1697465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0175" y="637847"/>
            <a:ext cx="10515600" cy="4351338"/>
          </a:xfrm>
        </p:spPr>
        <p:txBody>
          <a:bodyPr>
            <a:normAutofit fontScale="92500" lnSpcReduction="20000"/>
          </a:bodyPr>
          <a:lstStyle/>
          <a:p>
            <a:r>
              <a:rPr lang="en-US" b="1" dirty="0"/>
              <a:t>Non-directional Hypothesis</a:t>
            </a:r>
          </a:p>
          <a:p>
            <a:r>
              <a:rPr lang="en-US" dirty="0"/>
              <a:t>It is used when there is no theory involved. It is a statement that a relationship exists between two variables, without predicting the exact nature (direction) of the relationship.</a:t>
            </a:r>
          </a:p>
          <a:p>
            <a:r>
              <a:rPr lang="en-US" b="1" dirty="0"/>
              <a:t>Null Hypothesis</a:t>
            </a:r>
          </a:p>
          <a:p>
            <a:r>
              <a:rPr lang="en-US" dirty="0"/>
              <a:t>It provides a statement which is contrary to the hypothesis. It’s a negative statement, and there is no relationship between independent and dependent variables. The symbol is denoted by “H</a:t>
            </a:r>
            <a:r>
              <a:rPr lang="en-US" baseline="-25000" dirty="0"/>
              <a:t>O</a:t>
            </a:r>
            <a:r>
              <a:rPr lang="en-US" dirty="0"/>
              <a:t>”.</a:t>
            </a:r>
          </a:p>
          <a:p>
            <a:r>
              <a:rPr lang="en-US" b="1" dirty="0"/>
              <a:t>Associative and Causal Hypothesis</a:t>
            </a:r>
          </a:p>
          <a:p>
            <a:r>
              <a:rPr lang="en-US" dirty="0"/>
              <a:t>Associative hypothesis occurs when there is a change in one variable resulting in a change in the other variable. Whereas, the causal hypothesis proposes a cause and effect interaction between two or more variables.</a:t>
            </a:r>
          </a:p>
          <a:p>
            <a:endParaRPr lang="en-IN" dirty="0"/>
          </a:p>
        </p:txBody>
      </p:sp>
    </p:spTree>
    <p:extLst>
      <p:ext uri="{BB962C8B-B14F-4D97-AF65-F5344CB8AC3E}">
        <p14:creationId xmlns:p14="http://schemas.microsoft.com/office/powerpoint/2010/main" val="2249380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Examples of Hypothesis</a:t>
            </a:r>
            <a:br>
              <a:rPr lang="en-IN" dirty="0"/>
            </a:br>
            <a:endParaRPr lang="en-IN" dirty="0"/>
          </a:p>
        </p:txBody>
      </p:sp>
      <p:sp>
        <p:nvSpPr>
          <p:cNvPr id="3" name="Content Placeholder 2"/>
          <p:cNvSpPr>
            <a:spLocks noGrp="1"/>
          </p:cNvSpPr>
          <p:nvPr>
            <p:ph idx="1"/>
          </p:nvPr>
        </p:nvSpPr>
        <p:spPr/>
        <p:txBody>
          <a:bodyPr/>
          <a:lstStyle/>
          <a:p>
            <a:r>
              <a:rPr lang="en-US" dirty="0"/>
              <a:t>Consumption of sugary drinks every day leads to obesity is an example of a simple hypothesis.</a:t>
            </a:r>
          </a:p>
          <a:p>
            <a:r>
              <a:rPr lang="en-US" dirty="0"/>
              <a:t>All lilies have the same number of petals is an example of a null hypothesis.</a:t>
            </a:r>
          </a:p>
          <a:p>
            <a:r>
              <a:rPr lang="en-US" dirty="0"/>
              <a:t>If a person gets 7 hours of sleep, then he will feel less fatigue than if he sleeps less. It is an example of a directional hypothesis.</a:t>
            </a:r>
          </a:p>
          <a:p>
            <a:endParaRPr lang="en-IN" dirty="0"/>
          </a:p>
        </p:txBody>
      </p:sp>
    </p:spTree>
    <p:extLst>
      <p:ext uri="{BB962C8B-B14F-4D97-AF65-F5344CB8AC3E}">
        <p14:creationId xmlns:p14="http://schemas.microsoft.com/office/powerpoint/2010/main" val="2711878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Functions of Hypothesis</a:t>
            </a:r>
            <a:br>
              <a:rPr lang="en-IN" dirty="0"/>
            </a:br>
            <a:endParaRPr lang="en-IN" dirty="0"/>
          </a:p>
        </p:txBody>
      </p:sp>
      <p:sp>
        <p:nvSpPr>
          <p:cNvPr id="3" name="Content Placeholder 2"/>
          <p:cNvSpPr>
            <a:spLocks noGrp="1"/>
          </p:cNvSpPr>
          <p:nvPr>
            <p:ph idx="1"/>
          </p:nvPr>
        </p:nvSpPr>
        <p:spPr/>
        <p:txBody>
          <a:bodyPr/>
          <a:lstStyle/>
          <a:p>
            <a:r>
              <a:rPr lang="en-US" dirty="0"/>
              <a:t>Hypothesis helps in making an observation and experiments possible.</a:t>
            </a:r>
          </a:p>
          <a:p>
            <a:r>
              <a:rPr lang="en-US" dirty="0"/>
              <a:t>It becomes the start point for the investigation.</a:t>
            </a:r>
          </a:p>
          <a:p>
            <a:r>
              <a:rPr lang="en-US" dirty="0"/>
              <a:t>Hypothesis helps in verifying the observations.</a:t>
            </a:r>
          </a:p>
          <a:p>
            <a:r>
              <a:rPr lang="en-US" dirty="0"/>
              <a:t>It helps in directing the inquiries in the right direction.</a:t>
            </a:r>
          </a:p>
          <a:p>
            <a:endParaRPr lang="en-IN" dirty="0"/>
          </a:p>
        </p:txBody>
      </p:sp>
    </p:spTree>
    <p:extLst>
      <p:ext uri="{BB962C8B-B14F-4D97-AF65-F5344CB8AC3E}">
        <p14:creationId xmlns:p14="http://schemas.microsoft.com/office/powerpoint/2010/main" val="1406262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will Hypothesis help in the Scientific Method?</a:t>
            </a:r>
            <a:br>
              <a:rPr lang="en-US" dirty="0"/>
            </a:br>
            <a:endParaRPr lang="en-IN" dirty="0"/>
          </a:p>
        </p:txBody>
      </p:sp>
      <p:sp>
        <p:nvSpPr>
          <p:cNvPr id="3" name="Content Placeholder 2"/>
          <p:cNvSpPr>
            <a:spLocks noGrp="1"/>
          </p:cNvSpPr>
          <p:nvPr>
            <p:ph idx="1"/>
          </p:nvPr>
        </p:nvSpPr>
        <p:spPr/>
        <p:txBody>
          <a:bodyPr/>
          <a:lstStyle/>
          <a:p>
            <a:r>
              <a:rPr lang="en-US" dirty="0"/>
              <a:t>Formation of question</a:t>
            </a:r>
          </a:p>
          <a:p>
            <a:r>
              <a:rPr lang="en-US" dirty="0"/>
              <a:t>Doing background research</a:t>
            </a:r>
          </a:p>
          <a:p>
            <a:r>
              <a:rPr lang="en-US" dirty="0"/>
              <a:t>Creation of hypothesis</a:t>
            </a:r>
          </a:p>
          <a:p>
            <a:r>
              <a:rPr lang="en-US" dirty="0"/>
              <a:t>Designing an experiment</a:t>
            </a:r>
          </a:p>
          <a:p>
            <a:r>
              <a:rPr lang="en-US" dirty="0"/>
              <a:t>Collection of data</a:t>
            </a:r>
          </a:p>
          <a:p>
            <a:r>
              <a:rPr lang="en-US" dirty="0"/>
              <a:t>Result analysis</a:t>
            </a:r>
          </a:p>
          <a:p>
            <a:r>
              <a:rPr lang="en-US" dirty="0"/>
              <a:t>Summarizing the experiment</a:t>
            </a:r>
          </a:p>
          <a:p>
            <a:r>
              <a:rPr lang="en-US" dirty="0"/>
              <a:t>Communicating the results</a:t>
            </a:r>
          </a:p>
          <a:p>
            <a:endParaRPr lang="en-IN" dirty="0"/>
          </a:p>
        </p:txBody>
      </p:sp>
    </p:spTree>
    <p:extLst>
      <p:ext uri="{BB962C8B-B14F-4D97-AF65-F5344CB8AC3E}">
        <p14:creationId xmlns:p14="http://schemas.microsoft.com/office/powerpoint/2010/main" val="1180037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Dependent </a:t>
            </a:r>
            <a:r>
              <a:rPr lang="en-IN" dirty="0"/>
              <a:t>and independent variables 	</a:t>
            </a:r>
            <a:br>
              <a:rPr lang="en-IN" dirty="0"/>
            </a:br>
            <a:endParaRPr lang="en-IN" dirty="0"/>
          </a:p>
        </p:txBody>
      </p:sp>
      <p:sp>
        <p:nvSpPr>
          <p:cNvPr id="3" name="Content Placeholder 2"/>
          <p:cNvSpPr>
            <a:spLocks noGrp="1"/>
          </p:cNvSpPr>
          <p:nvPr>
            <p:ph idx="1"/>
          </p:nvPr>
        </p:nvSpPr>
        <p:spPr>
          <a:xfrm>
            <a:off x="725078" y="1260016"/>
            <a:ext cx="10515600" cy="4952247"/>
          </a:xfrm>
        </p:spPr>
        <p:txBody>
          <a:bodyPr>
            <a:normAutofit fontScale="85000" lnSpcReduction="20000"/>
          </a:bodyPr>
          <a:lstStyle/>
          <a:p>
            <a:r>
              <a:rPr lang="en-US" dirty="0"/>
              <a:t>In research, </a:t>
            </a:r>
            <a:r>
              <a:rPr lang="en-US" dirty="0">
                <a:hlinkClick r:id="rId2"/>
              </a:rPr>
              <a:t>variables</a:t>
            </a:r>
            <a:r>
              <a:rPr lang="en-US" dirty="0"/>
              <a:t> are any characteristics that can take on different values, such as height, age, temperature, or test scores.</a:t>
            </a:r>
          </a:p>
          <a:p>
            <a:r>
              <a:rPr lang="en-US" dirty="0"/>
              <a:t>Researchers often manipulate or measure independent and dependent variables in studies to test cause-and-effect relationships.</a:t>
            </a:r>
          </a:p>
          <a:p>
            <a:r>
              <a:rPr lang="en-US" dirty="0"/>
              <a:t>The </a:t>
            </a:r>
            <a:r>
              <a:rPr lang="en-US" b="1" dirty="0">
                <a:hlinkClick r:id="rId3"/>
              </a:rPr>
              <a:t>independent variable</a:t>
            </a:r>
            <a:r>
              <a:rPr lang="en-US" dirty="0"/>
              <a:t> is the cause. Its value is </a:t>
            </a:r>
            <a:r>
              <a:rPr lang="en-US" b="1" dirty="0"/>
              <a:t>independent </a:t>
            </a:r>
            <a:r>
              <a:rPr lang="en-US" dirty="0"/>
              <a:t>of other variables in your study.</a:t>
            </a:r>
          </a:p>
          <a:p>
            <a:r>
              <a:rPr lang="en-US" dirty="0"/>
              <a:t>The </a:t>
            </a:r>
            <a:r>
              <a:rPr lang="en-US" b="1" dirty="0">
                <a:hlinkClick r:id="rId4"/>
              </a:rPr>
              <a:t>dependent variable</a:t>
            </a:r>
            <a:r>
              <a:rPr lang="en-US" dirty="0"/>
              <a:t> is the effect. Its value </a:t>
            </a:r>
            <a:r>
              <a:rPr lang="en-US" b="1" dirty="0"/>
              <a:t>depends </a:t>
            </a:r>
            <a:r>
              <a:rPr lang="en-US" dirty="0"/>
              <a:t>on changes in the independent variable.</a:t>
            </a:r>
          </a:p>
          <a:p>
            <a:r>
              <a:rPr lang="en-US" dirty="0" smtClean="0"/>
              <a:t>Example: Independent and dependent variables -You design a study to test whether changes in room temperature have an effect on math test scores.</a:t>
            </a:r>
            <a:endParaRPr lang="en-US" dirty="0" smtClean="0">
              <a:effectLst/>
            </a:endParaRPr>
          </a:p>
          <a:p>
            <a:r>
              <a:rPr lang="en-US" dirty="0" smtClean="0">
                <a:effectLst/>
              </a:rPr>
              <a:t>Your </a:t>
            </a:r>
            <a:r>
              <a:rPr lang="en-US" b="1" dirty="0" smtClean="0">
                <a:effectLst/>
              </a:rPr>
              <a:t>independent variable</a:t>
            </a:r>
            <a:r>
              <a:rPr lang="en-US" dirty="0" smtClean="0">
                <a:effectLst/>
              </a:rPr>
              <a:t> is the temperature of the room. You vary the room temperature by making it cooler for half the participants, and warmer for the other half.</a:t>
            </a:r>
          </a:p>
          <a:p>
            <a:r>
              <a:rPr lang="en-US" dirty="0" smtClean="0">
                <a:effectLst/>
              </a:rPr>
              <a:t>Your </a:t>
            </a:r>
            <a:r>
              <a:rPr lang="en-US" b="1" dirty="0" smtClean="0">
                <a:effectLst/>
              </a:rPr>
              <a:t>dependent variable</a:t>
            </a:r>
            <a:r>
              <a:rPr lang="en-US" dirty="0" smtClean="0">
                <a:effectLst/>
              </a:rPr>
              <a:t> is math test scores. You measure the math skills of all participants using a standardized test and check whether they differ based on room temperature.</a:t>
            </a:r>
          </a:p>
          <a:p>
            <a:endParaRPr lang="en-IN" dirty="0"/>
          </a:p>
        </p:txBody>
      </p:sp>
    </p:spTree>
    <p:extLst>
      <p:ext uri="{BB962C8B-B14F-4D97-AF65-F5344CB8AC3E}">
        <p14:creationId xmlns:p14="http://schemas.microsoft.com/office/powerpoint/2010/main" val="2450835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an independent variable?</a:t>
            </a:r>
            <a:br>
              <a:rPr lang="en-US" b="1" dirty="0"/>
            </a:br>
            <a:endParaRPr lang="en-IN" dirty="0"/>
          </a:p>
        </p:txBody>
      </p:sp>
      <p:sp>
        <p:nvSpPr>
          <p:cNvPr id="3" name="Content Placeholder 2"/>
          <p:cNvSpPr>
            <a:spLocks noGrp="1"/>
          </p:cNvSpPr>
          <p:nvPr>
            <p:ph idx="1"/>
          </p:nvPr>
        </p:nvSpPr>
        <p:spPr>
          <a:xfrm>
            <a:off x="838200" y="1429698"/>
            <a:ext cx="10515600" cy="4876833"/>
          </a:xfrm>
        </p:spPr>
        <p:txBody>
          <a:bodyPr>
            <a:normAutofit fontScale="92500" lnSpcReduction="10000"/>
          </a:bodyPr>
          <a:lstStyle/>
          <a:p>
            <a:r>
              <a:rPr lang="en-US" dirty="0"/>
              <a:t>An independent variable is the variable you manipulate or vary in an </a:t>
            </a:r>
            <a:r>
              <a:rPr lang="en-US" dirty="0">
                <a:hlinkClick r:id="rId2"/>
              </a:rPr>
              <a:t>experimental study</a:t>
            </a:r>
            <a:r>
              <a:rPr lang="en-US" dirty="0"/>
              <a:t> to explore its effects. It’s called “independent” because it’s not influenced by any other variables in the study.</a:t>
            </a:r>
          </a:p>
          <a:p>
            <a:r>
              <a:rPr lang="en-US" dirty="0"/>
              <a:t>Independent variables are also called:</a:t>
            </a:r>
          </a:p>
          <a:p>
            <a:r>
              <a:rPr lang="en-US" dirty="0">
                <a:hlinkClick r:id="rId3"/>
              </a:rPr>
              <a:t>Explanatory variables</a:t>
            </a:r>
            <a:r>
              <a:rPr lang="en-US" dirty="0"/>
              <a:t> (they explain an event or outcome)</a:t>
            </a:r>
          </a:p>
          <a:p>
            <a:r>
              <a:rPr lang="en-US" dirty="0"/>
              <a:t>Predictor variables (they can be used to predict the value of a dependent variable)</a:t>
            </a:r>
          </a:p>
          <a:p>
            <a:r>
              <a:rPr lang="en-US" dirty="0"/>
              <a:t>Right-hand-side variables (they appear on the right-hand side of a </a:t>
            </a:r>
            <a:r>
              <a:rPr lang="en-US" dirty="0">
                <a:hlinkClick r:id="rId4"/>
              </a:rPr>
              <a:t>regression</a:t>
            </a:r>
            <a:r>
              <a:rPr lang="en-US" dirty="0"/>
              <a:t> equation).</a:t>
            </a:r>
          </a:p>
          <a:p>
            <a:r>
              <a:rPr lang="en-US" dirty="0"/>
              <a:t>These terms are especially used in </a:t>
            </a:r>
            <a:r>
              <a:rPr lang="en-US" dirty="0">
                <a:hlinkClick r:id="rId5"/>
              </a:rPr>
              <a:t>statistics</a:t>
            </a:r>
            <a:r>
              <a:rPr lang="en-US" dirty="0"/>
              <a:t>, where you estimate the extent to which an independent variable change can explain or predict changes in the dependent variable.</a:t>
            </a:r>
          </a:p>
          <a:p>
            <a:endParaRPr lang="en-IN" dirty="0"/>
          </a:p>
        </p:txBody>
      </p:sp>
    </p:spTree>
    <p:extLst>
      <p:ext uri="{BB962C8B-B14F-4D97-AF65-F5344CB8AC3E}">
        <p14:creationId xmlns:p14="http://schemas.microsoft.com/office/powerpoint/2010/main" val="3599845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independent variables</a:t>
            </a:r>
            <a:br>
              <a:rPr lang="en-IN" b="1" dirty="0"/>
            </a:br>
            <a:endParaRPr lang="en-IN" dirty="0"/>
          </a:p>
        </p:txBody>
      </p:sp>
      <p:sp>
        <p:nvSpPr>
          <p:cNvPr id="3" name="Content Placeholder 2"/>
          <p:cNvSpPr>
            <a:spLocks noGrp="1"/>
          </p:cNvSpPr>
          <p:nvPr>
            <p:ph idx="1"/>
          </p:nvPr>
        </p:nvSpPr>
        <p:spPr/>
        <p:txBody>
          <a:bodyPr/>
          <a:lstStyle/>
          <a:p>
            <a:r>
              <a:rPr lang="en-US" dirty="0"/>
              <a:t>There are two main types of independent variables.</a:t>
            </a:r>
          </a:p>
          <a:p>
            <a:r>
              <a:rPr lang="en-US" b="1" dirty="0"/>
              <a:t>Experimental independent variables</a:t>
            </a:r>
            <a:r>
              <a:rPr lang="en-US" dirty="0"/>
              <a:t> can be directly manipulated by researchers.</a:t>
            </a:r>
          </a:p>
          <a:p>
            <a:r>
              <a:rPr lang="en-US" b="1" dirty="0"/>
              <a:t>Subject variables</a:t>
            </a:r>
            <a:r>
              <a:rPr lang="en-US" dirty="0"/>
              <a:t> cannot be manipulated by researchers, but they can be used to group research subjects categorically.</a:t>
            </a:r>
          </a:p>
          <a:p>
            <a:endParaRPr lang="en-IN" dirty="0"/>
          </a:p>
        </p:txBody>
      </p:sp>
    </p:spTree>
    <p:extLst>
      <p:ext uri="{BB962C8B-B14F-4D97-AF65-F5344CB8AC3E}">
        <p14:creationId xmlns:p14="http://schemas.microsoft.com/office/powerpoint/2010/main" val="273553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1322" y="524726"/>
            <a:ext cx="10515600" cy="5828940"/>
          </a:xfrm>
        </p:spPr>
        <p:txBody>
          <a:bodyPr>
            <a:normAutofit fontScale="85000" lnSpcReduction="20000"/>
          </a:bodyPr>
          <a:lstStyle/>
          <a:p>
            <a:r>
              <a:rPr lang="en-US" b="1" dirty="0"/>
              <a:t>Experimental variables</a:t>
            </a:r>
          </a:p>
          <a:p>
            <a:r>
              <a:rPr lang="en-US" dirty="0"/>
              <a:t>In experiments, you manipulate independent variables directly to see how they </a:t>
            </a:r>
            <a:r>
              <a:rPr lang="en-US" dirty="0">
                <a:hlinkClick r:id="rId2"/>
              </a:rPr>
              <a:t>affect</a:t>
            </a:r>
            <a:r>
              <a:rPr lang="en-US" dirty="0"/>
              <a:t> your dependent variable. The independent variable is usually applied at different levels to see how the outcomes differ.</a:t>
            </a:r>
          </a:p>
          <a:p>
            <a:r>
              <a:rPr lang="en-US" dirty="0"/>
              <a:t>You can apply just two levels in order to find out </a:t>
            </a:r>
            <a:r>
              <a:rPr lang="en-US" b="1" dirty="0"/>
              <a:t>if </a:t>
            </a:r>
            <a:r>
              <a:rPr lang="en-US" dirty="0"/>
              <a:t>an independent variable has an effect at all.</a:t>
            </a:r>
          </a:p>
          <a:p>
            <a:r>
              <a:rPr lang="en-US" dirty="0"/>
              <a:t>You can also apply multiple levels to find out </a:t>
            </a:r>
            <a:r>
              <a:rPr lang="en-US" b="1" dirty="0"/>
              <a:t>how</a:t>
            </a:r>
            <a:r>
              <a:rPr lang="en-US" dirty="0"/>
              <a:t> the independent variable affects the dependent variable.</a:t>
            </a:r>
          </a:p>
          <a:p>
            <a:r>
              <a:rPr lang="en-US" dirty="0" smtClean="0"/>
              <a:t>Example: Independent variable levels-You are studying the impact of a new medication on the blood pressure of patients with hypertension. Your independent variable is the treatment that you directly vary between groups.</a:t>
            </a:r>
            <a:endParaRPr lang="en-US" dirty="0" smtClean="0">
              <a:effectLst/>
            </a:endParaRPr>
          </a:p>
          <a:p>
            <a:r>
              <a:rPr lang="en-US" dirty="0" smtClean="0">
                <a:effectLst/>
              </a:rPr>
              <a:t>You have three independent variable levels, and each group gets a different level of treatment.</a:t>
            </a:r>
          </a:p>
          <a:p>
            <a:r>
              <a:rPr lang="en-US" dirty="0" smtClean="0">
                <a:effectLst/>
              </a:rPr>
              <a:t>You </a:t>
            </a:r>
            <a:r>
              <a:rPr lang="en-US" dirty="0">
                <a:hlinkClick r:id="rId3"/>
              </a:rPr>
              <a:t>randomly assign</a:t>
            </a:r>
            <a:r>
              <a:rPr lang="en-US" dirty="0" smtClean="0">
                <a:effectLst/>
              </a:rPr>
              <a:t> your patients to one of the three groups:</a:t>
            </a:r>
          </a:p>
          <a:p>
            <a:r>
              <a:rPr lang="en-US" dirty="0" smtClean="0">
                <a:effectLst/>
              </a:rPr>
              <a:t>A low-dose experimental group</a:t>
            </a:r>
          </a:p>
          <a:p>
            <a:r>
              <a:rPr lang="en-US" dirty="0" smtClean="0">
                <a:effectLst/>
              </a:rPr>
              <a:t>A high-dose experimental group</a:t>
            </a:r>
          </a:p>
          <a:p>
            <a:r>
              <a:rPr lang="en-US" dirty="0" smtClean="0">
                <a:effectLst/>
              </a:rPr>
              <a:t>A placebo group (to research a possible </a:t>
            </a:r>
            <a:r>
              <a:rPr lang="en-US" dirty="0">
                <a:hlinkClick r:id="rId4"/>
              </a:rPr>
              <a:t>placebo effect</a:t>
            </a:r>
            <a:r>
              <a:rPr lang="en-US" dirty="0" smtClean="0">
                <a:effectLst/>
              </a:rPr>
              <a:t>)</a:t>
            </a:r>
          </a:p>
          <a:p>
            <a:endParaRPr lang="en-IN" dirty="0"/>
          </a:p>
        </p:txBody>
      </p:sp>
    </p:spTree>
    <p:extLst>
      <p:ext uri="{BB962C8B-B14F-4D97-AF65-F5344CB8AC3E}">
        <p14:creationId xmlns:p14="http://schemas.microsoft.com/office/powerpoint/2010/main" val="7285681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3312497" y="336189"/>
            <a:ext cx="5265811" cy="5725245"/>
          </a:xfrm>
          <a:prstGeom prst="rect">
            <a:avLst/>
          </a:prstGeom>
        </p:spPr>
      </p:pic>
    </p:spTree>
    <p:extLst>
      <p:ext uri="{BB962C8B-B14F-4D97-AF65-F5344CB8AC3E}">
        <p14:creationId xmlns:p14="http://schemas.microsoft.com/office/powerpoint/2010/main" val="1223162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1066" y="458738"/>
            <a:ext cx="10515600" cy="5706392"/>
          </a:xfrm>
        </p:spPr>
        <p:txBody>
          <a:bodyPr>
            <a:normAutofit lnSpcReduction="10000"/>
          </a:bodyPr>
          <a:lstStyle/>
          <a:p>
            <a:r>
              <a:rPr lang="en-US" b="1" dirty="0"/>
              <a:t>Subject variables</a:t>
            </a:r>
          </a:p>
          <a:p>
            <a:r>
              <a:rPr lang="en-US" dirty="0"/>
              <a:t>Subject variables are characteristics that vary across participants, and they can’t be manipulated by researchers</a:t>
            </a:r>
            <a:r>
              <a:rPr lang="en-US" dirty="0" smtClean="0"/>
              <a:t>.</a:t>
            </a:r>
          </a:p>
          <a:p>
            <a:r>
              <a:rPr lang="en-US" dirty="0" smtClean="0"/>
              <a:t> </a:t>
            </a:r>
            <a:r>
              <a:rPr lang="en-US" dirty="0"/>
              <a:t>For example, gender identity, ethnicity, race, income, and education are all important subject variables that social researchers treat as independent variables.</a:t>
            </a:r>
          </a:p>
          <a:p>
            <a:r>
              <a:rPr lang="en-US" dirty="0"/>
              <a:t>It’s not possible to randomly assign these to participants, since these are characteristics of already existing groups</a:t>
            </a:r>
            <a:r>
              <a:rPr lang="en-US" dirty="0" smtClean="0"/>
              <a:t>.</a:t>
            </a:r>
          </a:p>
          <a:p>
            <a:r>
              <a:rPr lang="en-US" dirty="0" smtClean="0"/>
              <a:t> </a:t>
            </a:r>
            <a:r>
              <a:rPr lang="en-US" dirty="0"/>
              <a:t>Instead, you can create a research design where you compare the outcomes of groups of participants with characteristics. </a:t>
            </a:r>
            <a:endParaRPr lang="en-US" dirty="0" smtClean="0"/>
          </a:p>
          <a:p>
            <a:r>
              <a:rPr lang="en-US" dirty="0" smtClean="0"/>
              <a:t>This </a:t>
            </a:r>
            <a:r>
              <a:rPr lang="en-US" dirty="0"/>
              <a:t>is a </a:t>
            </a:r>
            <a:r>
              <a:rPr lang="en-US" dirty="0">
                <a:hlinkClick r:id="rId2"/>
              </a:rPr>
              <a:t>quasi-experimental design</a:t>
            </a:r>
            <a:r>
              <a:rPr lang="en-US" dirty="0"/>
              <a:t> because there’s no random assignment. Note that any research methods that use non-random assignment are at risk for </a:t>
            </a:r>
            <a:r>
              <a:rPr lang="en-US" dirty="0">
                <a:hlinkClick r:id="rId3"/>
              </a:rPr>
              <a:t>research biases</a:t>
            </a:r>
            <a:r>
              <a:rPr lang="en-US" dirty="0"/>
              <a:t> like </a:t>
            </a:r>
            <a:r>
              <a:rPr lang="en-US" dirty="0">
                <a:hlinkClick r:id="rId4"/>
              </a:rPr>
              <a:t>selection bias</a:t>
            </a:r>
            <a:r>
              <a:rPr lang="en-US" dirty="0"/>
              <a:t> and </a:t>
            </a:r>
            <a:r>
              <a:rPr lang="en-US" dirty="0">
                <a:hlinkClick r:id="rId5"/>
              </a:rPr>
              <a:t>sampling bias</a:t>
            </a:r>
            <a:r>
              <a:rPr lang="en-US" dirty="0"/>
              <a:t>.</a:t>
            </a:r>
          </a:p>
          <a:p>
            <a:endParaRPr lang="en-IN" dirty="0"/>
          </a:p>
        </p:txBody>
      </p:sp>
    </p:spTree>
    <p:extLst>
      <p:ext uri="{BB962C8B-B14F-4D97-AF65-F5344CB8AC3E}">
        <p14:creationId xmlns:p14="http://schemas.microsoft.com/office/powerpoint/2010/main" val="1716047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9602" y="769822"/>
            <a:ext cx="10515600" cy="5414161"/>
          </a:xfrm>
        </p:spPr>
        <p:txBody>
          <a:bodyPr>
            <a:normAutofit/>
          </a:bodyPr>
          <a:lstStyle/>
          <a:p>
            <a:r>
              <a:rPr lang="en-US" dirty="0" smtClean="0"/>
              <a:t>Example: Quasi-experimental design-You study whether gender identity affects neural responses to infant cries.</a:t>
            </a:r>
            <a:endParaRPr lang="en-US" dirty="0" smtClean="0">
              <a:effectLst/>
            </a:endParaRPr>
          </a:p>
          <a:p>
            <a:r>
              <a:rPr lang="en-US" dirty="0" smtClean="0">
                <a:effectLst/>
              </a:rPr>
              <a:t>Your independent variable is a subject variable, namely the gender identity of the participants. You have three groups: men, women and other.</a:t>
            </a:r>
          </a:p>
          <a:p>
            <a:r>
              <a:rPr lang="en-US" dirty="0" smtClean="0">
                <a:effectLst/>
              </a:rPr>
              <a:t>Your dependent variable is the brain activity response to hearing infant cries. You record brain activity with fMRI scans when participants hear infant cries without their awareness.</a:t>
            </a:r>
          </a:p>
          <a:p>
            <a:r>
              <a:rPr lang="en-US" dirty="0" smtClean="0">
                <a:effectLst/>
              </a:rPr>
              <a:t>After collecting data, you check for </a:t>
            </a:r>
            <a:r>
              <a:rPr lang="en-US" dirty="0" smtClean="0">
                <a:hlinkClick r:id="rId2"/>
              </a:rPr>
              <a:t>statistically significant</a:t>
            </a:r>
            <a:r>
              <a:rPr lang="en-US" dirty="0" smtClean="0">
                <a:effectLst/>
              </a:rPr>
              <a:t> differences between the groups. </a:t>
            </a:r>
          </a:p>
          <a:p>
            <a:r>
              <a:rPr lang="en-US" dirty="0" smtClean="0">
                <a:effectLst/>
              </a:rPr>
              <a:t>You find some and conclude that gender identity influences brain responses to infant cries.</a:t>
            </a:r>
          </a:p>
          <a:p>
            <a:endParaRPr lang="en-IN" dirty="0"/>
          </a:p>
        </p:txBody>
      </p:sp>
    </p:spTree>
    <p:extLst>
      <p:ext uri="{BB962C8B-B14F-4D97-AF65-F5344CB8AC3E}">
        <p14:creationId xmlns:p14="http://schemas.microsoft.com/office/powerpoint/2010/main" val="258980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614" y="500062"/>
            <a:ext cx="10515600" cy="1325563"/>
          </a:xfrm>
        </p:spPr>
        <p:txBody>
          <a:bodyPr/>
          <a:lstStyle/>
          <a:p>
            <a:r>
              <a:rPr lang="en-US" b="1" dirty="0"/>
              <a:t>What is a dependent variable?</a:t>
            </a:r>
            <a:br>
              <a:rPr lang="en-US" b="1" dirty="0"/>
            </a:br>
            <a:endParaRPr lang="en-IN" dirty="0"/>
          </a:p>
        </p:txBody>
      </p:sp>
      <p:sp>
        <p:nvSpPr>
          <p:cNvPr id="3" name="Content Placeholder 2"/>
          <p:cNvSpPr>
            <a:spLocks noGrp="1"/>
          </p:cNvSpPr>
          <p:nvPr>
            <p:ph idx="1"/>
          </p:nvPr>
        </p:nvSpPr>
        <p:spPr>
          <a:xfrm>
            <a:off x="819346" y="1429699"/>
            <a:ext cx="10515600" cy="4351338"/>
          </a:xfrm>
        </p:spPr>
        <p:txBody>
          <a:bodyPr>
            <a:normAutofit lnSpcReduction="10000"/>
          </a:bodyPr>
          <a:lstStyle/>
          <a:p>
            <a:r>
              <a:rPr lang="en-US" dirty="0"/>
              <a:t>A dependent variable is the variable that changes as a result of the independent variable manipulation. It’s the outcome you’re interested in measuring, and it “depends” on your independent variable.</a:t>
            </a:r>
          </a:p>
          <a:p>
            <a:r>
              <a:rPr lang="en-US" dirty="0"/>
              <a:t>In </a:t>
            </a:r>
            <a:r>
              <a:rPr lang="en-US" dirty="0">
                <a:hlinkClick r:id="rId2"/>
              </a:rPr>
              <a:t>statistics</a:t>
            </a:r>
            <a:r>
              <a:rPr lang="en-US" dirty="0"/>
              <a:t>, dependent variables are also called:</a:t>
            </a:r>
          </a:p>
          <a:p>
            <a:r>
              <a:rPr lang="en-US" dirty="0">
                <a:hlinkClick r:id="rId3"/>
              </a:rPr>
              <a:t>Response variables</a:t>
            </a:r>
            <a:r>
              <a:rPr lang="en-US" dirty="0"/>
              <a:t> (they respond to a change in another variable)</a:t>
            </a:r>
          </a:p>
          <a:p>
            <a:r>
              <a:rPr lang="en-US" dirty="0"/>
              <a:t>Outcome variables (they represent the outcome you want to measure)</a:t>
            </a:r>
          </a:p>
          <a:p>
            <a:r>
              <a:rPr lang="en-US" dirty="0"/>
              <a:t>Left-hand-side variables (they appear on the left-hand side of a regression equation)</a:t>
            </a:r>
          </a:p>
          <a:p>
            <a:endParaRPr lang="en-IN" dirty="0"/>
          </a:p>
        </p:txBody>
      </p:sp>
    </p:spTree>
    <p:extLst>
      <p:ext uri="{BB962C8B-B14F-4D97-AF65-F5344CB8AC3E}">
        <p14:creationId xmlns:p14="http://schemas.microsoft.com/office/powerpoint/2010/main" val="40418276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6480" y="939505"/>
            <a:ext cx="10515600" cy="4351338"/>
          </a:xfrm>
        </p:spPr>
        <p:txBody>
          <a:bodyPr/>
          <a:lstStyle/>
          <a:p>
            <a:r>
              <a:rPr lang="en-US" dirty="0" smtClean="0"/>
              <a:t>The dependent variable is what you record after you’ve manipulated the independent variable. You use this measurement data to check whether and to what extent your independent variable influences the dependent variable by conducting statistical analyses.</a:t>
            </a:r>
          </a:p>
          <a:p>
            <a:r>
              <a:rPr lang="en-US" dirty="0" smtClean="0"/>
              <a:t>Based on your findings, you can estimate the degree to which your independent variable variation drives changes in your dependent variable. You can also predict how much your dependent variable will change as a result of variation in the independent variable.</a:t>
            </a:r>
          </a:p>
          <a:p>
            <a:endParaRPr lang="en-IN" dirty="0"/>
          </a:p>
        </p:txBody>
      </p:sp>
    </p:spTree>
    <p:extLst>
      <p:ext uri="{BB962C8B-B14F-4D97-AF65-F5344CB8AC3E}">
        <p14:creationId xmlns:p14="http://schemas.microsoft.com/office/powerpoint/2010/main" val="5902732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2"/>
            <a:ext cx="10515600" cy="1325563"/>
          </a:xfrm>
        </p:spPr>
        <p:txBody>
          <a:bodyPr/>
          <a:lstStyle/>
          <a:p>
            <a:pPr algn="ctr"/>
            <a:r>
              <a:rPr lang="en-IN" dirty="0" smtClean="0"/>
              <a:t>Control </a:t>
            </a:r>
            <a:r>
              <a:rPr lang="en-IN" dirty="0"/>
              <a:t>in experiment 	</a:t>
            </a:r>
            <a:br>
              <a:rPr lang="en-IN" dirty="0"/>
            </a:br>
            <a:endParaRPr lang="en-IN" dirty="0"/>
          </a:p>
        </p:txBody>
      </p:sp>
      <p:sp>
        <p:nvSpPr>
          <p:cNvPr id="3" name="Content Placeholder 2"/>
          <p:cNvSpPr>
            <a:spLocks noGrp="1"/>
          </p:cNvSpPr>
          <p:nvPr>
            <p:ph idx="1"/>
          </p:nvPr>
        </p:nvSpPr>
        <p:spPr>
          <a:xfrm>
            <a:off x="838200" y="1523967"/>
            <a:ext cx="10515600" cy="4351338"/>
          </a:xfrm>
        </p:spPr>
        <p:txBody>
          <a:bodyPr>
            <a:normAutofit fontScale="92500" lnSpcReduction="10000"/>
          </a:bodyPr>
          <a:lstStyle/>
          <a:p>
            <a:pPr fontAlgn="base"/>
            <a:r>
              <a:rPr lang="en-US" dirty="0"/>
              <a:t>An </a:t>
            </a:r>
            <a:r>
              <a:rPr lang="en-US" b="1" dirty="0"/>
              <a:t>experimental control</a:t>
            </a:r>
            <a:r>
              <a:rPr lang="en-US" dirty="0"/>
              <a:t> is used in scientific experiments to minimize the effect of variables which are not the interest of the study. The control can be an object, population, or any other variable which a scientist would like to “control.”</a:t>
            </a:r>
          </a:p>
          <a:p>
            <a:pPr fontAlgn="base"/>
            <a:r>
              <a:rPr lang="en-US" dirty="0" smtClean="0"/>
              <a:t>The </a:t>
            </a:r>
            <a:r>
              <a:rPr lang="en-US" dirty="0"/>
              <a:t>function of an experimental control is to hold constant the variables that an experimenter isn’t interested in measuring.</a:t>
            </a:r>
          </a:p>
          <a:p>
            <a:pPr fontAlgn="base"/>
            <a:r>
              <a:rPr lang="en-US" dirty="0"/>
              <a:t>This helps scientists ensure that there have been no deviations in the environment of the experiment that could end up influencing the outcome of the experiment, besides the variable they are investigating. </a:t>
            </a:r>
          </a:p>
          <a:p>
            <a:pPr fontAlgn="base"/>
            <a:r>
              <a:rPr lang="en-US" b="1" i="1" dirty="0"/>
              <a:t> A control is important for an experiment because it allows the experiment to minimize the changes in all other variables except the one being tested.</a:t>
            </a:r>
            <a:endParaRPr lang="en-US" dirty="0"/>
          </a:p>
          <a:p>
            <a:endParaRPr lang="en-IN" dirty="0"/>
          </a:p>
        </p:txBody>
      </p:sp>
    </p:spTree>
    <p:extLst>
      <p:ext uri="{BB962C8B-B14F-4D97-AF65-F5344CB8AC3E}">
        <p14:creationId xmlns:p14="http://schemas.microsoft.com/office/powerpoint/2010/main" val="7678761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i="1" dirty="0"/>
              <a:t>Control Groups and Experimental Groups</a:t>
            </a:r>
            <a:endParaRPr lang="en-IN" dirty="0"/>
          </a:p>
        </p:txBody>
      </p:sp>
      <p:sp>
        <p:nvSpPr>
          <p:cNvPr id="3" name="Content Placeholder 2"/>
          <p:cNvSpPr>
            <a:spLocks noGrp="1"/>
          </p:cNvSpPr>
          <p:nvPr>
            <p:ph idx="1"/>
          </p:nvPr>
        </p:nvSpPr>
        <p:spPr/>
        <p:txBody>
          <a:bodyPr>
            <a:normAutofit/>
          </a:bodyPr>
          <a:lstStyle/>
          <a:p>
            <a:pPr fontAlgn="base"/>
            <a:r>
              <a:rPr lang="en-US" dirty="0"/>
              <a:t>There will frequently be two groups under observation in an experiment, </a:t>
            </a:r>
            <a:r>
              <a:rPr lang="en-US" u="sng" dirty="0">
                <a:hlinkClick r:id="rId2"/>
              </a:rPr>
              <a:t>the experimental group, and the control group</a:t>
            </a:r>
            <a:r>
              <a:rPr lang="en-US" dirty="0"/>
              <a:t>. </a:t>
            </a:r>
            <a:endParaRPr lang="en-US" dirty="0" smtClean="0"/>
          </a:p>
          <a:p>
            <a:pPr fontAlgn="base"/>
            <a:r>
              <a:rPr lang="en-US" dirty="0" smtClean="0"/>
              <a:t>The </a:t>
            </a:r>
            <a:r>
              <a:rPr lang="en-US" dirty="0"/>
              <a:t>control group is used to establish a baseline that the behavior of the experimental group can be compared to. </a:t>
            </a:r>
            <a:endParaRPr lang="en-US" dirty="0" smtClean="0"/>
          </a:p>
          <a:p>
            <a:pPr fontAlgn="base"/>
            <a:r>
              <a:rPr lang="en-US" dirty="0" smtClean="0"/>
              <a:t>If </a:t>
            </a:r>
            <a:r>
              <a:rPr lang="en-US" dirty="0"/>
              <a:t>two groups of people were receiving an experimental treatment for a medical condition, one would be given the actual treatment (the experimental group) and one would typically be given a placebo or sugar pill (the control group).</a:t>
            </a:r>
          </a:p>
          <a:p>
            <a:r>
              <a:rPr lang="en-US" b="1" dirty="0"/>
              <a:t/>
            </a:r>
            <a:br>
              <a:rPr lang="en-US" b="1" dirty="0"/>
            </a:br>
            <a:endParaRPr lang="en-IN" dirty="0"/>
          </a:p>
        </p:txBody>
      </p:sp>
    </p:spTree>
    <p:extLst>
      <p:ext uri="{BB962C8B-B14F-4D97-AF65-F5344CB8AC3E}">
        <p14:creationId xmlns:p14="http://schemas.microsoft.com/office/powerpoint/2010/main" val="2055898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5907" y="1165749"/>
            <a:ext cx="10515600" cy="4351338"/>
          </a:xfrm>
        </p:spPr>
        <p:txBody>
          <a:bodyPr>
            <a:normAutofit fontScale="92500" lnSpcReduction="10000"/>
          </a:bodyPr>
          <a:lstStyle/>
          <a:p>
            <a:r>
              <a:rPr lang="en-US" dirty="0" smtClean="0"/>
              <a:t>Without an experimental control group, it is difficult to determine the effects of the independent variable on the dependent variable in an experiment. </a:t>
            </a:r>
          </a:p>
          <a:p>
            <a:r>
              <a:rPr lang="en-US" dirty="0" smtClean="0"/>
              <a:t>This is because there can always be outside factors that are influencing the behavior of the experimental group. </a:t>
            </a:r>
          </a:p>
          <a:p>
            <a:r>
              <a:rPr lang="en-US" dirty="0" smtClean="0"/>
              <a:t>The function of a control group is to act as a point of comparison, by attempting to ensure that the variable under examination (the impact of the medicine) is the thing responsible for creating the results of an experiment. </a:t>
            </a:r>
          </a:p>
          <a:p>
            <a:r>
              <a:rPr lang="en-US" dirty="0" smtClean="0"/>
              <a:t>The control group is holding other possible variables constant, such as the act of seeing a doctor and taking a pill, so only the medicine itself is being tested.</a:t>
            </a:r>
          </a:p>
          <a:p>
            <a:endParaRPr lang="en-IN" dirty="0"/>
          </a:p>
        </p:txBody>
      </p:sp>
    </p:spTree>
    <p:extLst>
      <p:ext uri="{BB962C8B-B14F-4D97-AF65-F5344CB8AC3E}">
        <p14:creationId xmlns:p14="http://schemas.microsoft.com/office/powerpoint/2010/main" val="32418935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Why Are Experimental Controls So Important?</a:t>
            </a:r>
            <a:endParaRPr lang="en-IN" dirty="0"/>
          </a:p>
        </p:txBody>
      </p:sp>
      <p:sp>
        <p:nvSpPr>
          <p:cNvPr id="3" name="Content Placeholder 2"/>
          <p:cNvSpPr>
            <a:spLocks noGrp="1"/>
          </p:cNvSpPr>
          <p:nvPr>
            <p:ph idx="1"/>
          </p:nvPr>
        </p:nvSpPr>
        <p:spPr/>
        <p:txBody>
          <a:bodyPr/>
          <a:lstStyle/>
          <a:p>
            <a:r>
              <a:rPr lang="en-US" dirty="0"/>
              <a:t>Experimental controls allow scientists to </a:t>
            </a:r>
            <a:r>
              <a:rPr lang="en-US" u="sng" dirty="0">
                <a:hlinkClick r:id="rId2"/>
              </a:rPr>
              <a:t>eliminate varying amounts of uncertainty</a:t>
            </a:r>
            <a:r>
              <a:rPr lang="en-US" dirty="0"/>
              <a:t> in their experiments. </a:t>
            </a:r>
            <a:endParaRPr lang="en-US" dirty="0" smtClean="0"/>
          </a:p>
          <a:p>
            <a:r>
              <a:rPr lang="en-US" dirty="0" smtClean="0"/>
              <a:t>Whenever </a:t>
            </a:r>
            <a:r>
              <a:rPr lang="en-US" dirty="0"/>
              <a:t>a researcher does an experiment and wants to ensure that only the variable they are interested in changing is changing, they need to utilize experimental controls.</a:t>
            </a:r>
            <a:endParaRPr lang="en-IN" dirty="0"/>
          </a:p>
        </p:txBody>
      </p:sp>
    </p:spTree>
    <p:extLst>
      <p:ext uri="{BB962C8B-B14F-4D97-AF65-F5344CB8AC3E}">
        <p14:creationId xmlns:p14="http://schemas.microsoft.com/office/powerpoint/2010/main" val="745894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Experimental controls have been dubbed “controls” precisely because they allow researchers to control the variables they think might have an impact on the results of the study</a:t>
            </a:r>
            <a:r>
              <a:rPr lang="en-US" dirty="0" smtClean="0"/>
              <a:t>.</a:t>
            </a:r>
          </a:p>
          <a:p>
            <a:r>
              <a:rPr lang="en-US" dirty="0" smtClean="0"/>
              <a:t> </a:t>
            </a:r>
            <a:r>
              <a:rPr lang="en-US" dirty="0"/>
              <a:t>If a researcher believes that some outside variables could influence the results of their research, they’ll use a control group to try and hold that thing constant and measure any possible influence it has on the results</a:t>
            </a:r>
            <a:r>
              <a:rPr lang="en-US" dirty="0" smtClean="0"/>
              <a:t>.</a:t>
            </a:r>
          </a:p>
          <a:p>
            <a:r>
              <a:rPr lang="en-US" dirty="0" smtClean="0"/>
              <a:t> </a:t>
            </a:r>
            <a:r>
              <a:rPr lang="en-US" dirty="0"/>
              <a:t>It is important to note that there may be many different controls for an experiment, and the more complex a phenomenon under investigation is, the more controls it is likely to have.</a:t>
            </a:r>
            <a:endParaRPr lang="en-IN" dirty="0"/>
          </a:p>
        </p:txBody>
      </p:sp>
    </p:spTree>
    <p:extLst>
      <p:ext uri="{BB962C8B-B14F-4D97-AF65-F5344CB8AC3E}">
        <p14:creationId xmlns:p14="http://schemas.microsoft.com/office/powerpoint/2010/main" val="25331511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Not only do controls establish a baseline that the results of an experiment can be compared to, they also allow researchers to correct for possible errors</a:t>
            </a:r>
            <a:r>
              <a:rPr lang="en-US" dirty="0" smtClean="0"/>
              <a:t>.</a:t>
            </a:r>
          </a:p>
          <a:p>
            <a:r>
              <a:rPr lang="en-US" dirty="0" smtClean="0"/>
              <a:t> </a:t>
            </a:r>
            <a:r>
              <a:rPr lang="en-US" dirty="0"/>
              <a:t>If something goes wrong in the experiment, a scientist can check on the controls of the experiment to see if the error had to do with the controls. If so, they can correct this next time the experiment is done.</a:t>
            </a:r>
            <a:endParaRPr lang="en-IN" dirty="0"/>
          </a:p>
        </p:txBody>
      </p:sp>
    </p:spTree>
    <p:extLst>
      <p:ext uri="{BB962C8B-B14F-4D97-AF65-F5344CB8AC3E}">
        <p14:creationId xmlns:p14="http://schemas.microsoft.com/office/powerpoint/2010/main" val="35499690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precision and accuracy 	</a:t>
            </a:r>
            <a:br>
              <a:rPr lang="en-IN" dirty="0"/>
            </a:br>
            <a:endParaRPr lang="en-IN" dirty="0"/>
          </a:p>
        </p:txBody>
      </p:sp>
      <p:sp>
        <p:nvSpPr>
          <p:cNvPr id="3" name="Content Placeholder 2"/>
          <p:cNvSpPr>
            <a:spLocks noGrp="1"/>
          </p:cNvSpPr>
          <p:nvPr>
            <p:ph idx="1"/>
          </p:nvPr>
        </p:nvSpPr>
        <p:spPr>
          <a:xfrm>
            <a:off x="838200" y="1027906"/>
            <a:ext cx="10515600" cy="5338746"/>
          </a:xfrm>
        </p:spPr>
        <p:txBody>
          <a:bodyPr>
            <a:noAutofit/>
          </a:bodyPr>
          <a:lstStyle/>
          <a:p>
            <a:r>
              <a:rPr lang="en-US" sz="1800" b="1" dirty="0">
                <a:latin typeface="Times New Roman" panose="02020603050405020304" pitchFamily="18" charset="0"/>
                <a:cs typeface="Times New Roman" panose="02020603050405020304" pitchFamily="18" charset="0"/>
              </a:rPr>
              <a:t>Accuracy</a:t>
            </a:r>
          </a:p>
          <a:p>
            <a:r>
              <a:rPr lang="en-US" sz="1800" dirty="0">
                <a:latin typeface="Times New Roman" panose="02020603050405020304" pitchFamily="18" charset="0"/>
                <a:cs typeface="Times New Roman" panose="02020603050405020304" pitchFamily="18" charset="0"/>
              </a:rPr>
              <a:t>The ability of an instrument to measure the accurate value is known as accuracy. In other words, it is the </a:t>
            </a:r>
            <a:r>
              <a:rPr lang="en-US" sz="1800" b="1" i="1" dirty="0" err="1">
                <a:latin typeface="Times New Roman" panose="02020603050405020304" pitchFamily="18" charset="0"/>
                <a:cs typeface="Times New Roman" panose="02020603050405020304" pitchFamily="18" charset="0"/>
              </a:rPr>
              <a:t>the</a:t>
            </a:r>
            <a:r>
              <a:rPr lang="en-US" sz="1800" b="1" i="1" dirty="0">
                <a:latin typeface="Times New Roman" panose="02020603050405020304" pitchFamily="18" charset="0"/>
                <a:cs typeface="Times New Roman" panose="02020603050405020304" pitchFamily="18" charset="0"/>
              </a:rPr>
              <a:t> closeness of the measured value to a standard or true value</a:t>
            </a:r>
            <a:r>
              <a:rPr lang="en-US" sz="1800" dirty="0">
                <a:latin typeface="Times New Roman" panose="02020603050405020304" pitchFamily="18" charset="0"/>
                <a:cs typeface="Times New Roman" panose="02020603050405020304" pitchFamily="18" charset="0"/>
              </a:rPr>
              <a:t>. Accuracy is obtained by taking small readings. The small reading reduces the error of the calculation. The accuracy of the system is classified into three types as follows:</a:t>
            </a:r>
          </a:p>
          <a:p>
            <a:pPr lvl="2"/>
            <a:r>
              <a:rPr lang="en-US" sz="1800" dirty="0">
                <a:latin typeface="Times New Roman" panose="02020603050405020304" pitchFamily="18" charset="0"/>
                <a:cs typeface="Times New Roman" panose="02020603050405020304" pitchFamily="18" charset="0"/>
              </a:rPr>
              <a:t>Point Accuracy</a:t>
            </a:r>
          </a:p>
          <a:p>
            <a:r>
              <a:rPr lang="en-US" sz="1800" dirty="0">
                <a:latin typeface="Times New Roman" panose="02020603050405020304" pitchFamily="18" charset="0"/>
                <a:cs typeface="Times New Roman" panose="02020603050405020304" pitchFamily="18" charset="0"/>
              </a:rPr>
              <a:t>The accuracy of the instrument only at a particular point on its scale is known as point accuracy. It is important to note that this accuracy does not give any information about the general accuracy of the instrument.</a:t>
            </a:r>
          </a:p>
          <a:p>
            <a:pPr lvl="2"/>
            <a:r>
              <a:rPr lang="en-US" sz="1800" dirty="0">
                <a:latin typeface="Times New Roman" panose="02020603050405020304" pitchFamily="18" charset="0"/>
                <a:cs typeface="Times New Roman" panose="02020603050405020304" pitchFamily="18" charset="0"/>
              </a:rPr>
              <a:t>Accuracy as Percentage of Scale Range</a:t>
            </a:r>
          </a:p>
          <a:p>
            <a:r>
              <a:rPr lang="en-US" sz="1800" dirty="0">
                <a:latin typeface="Times New Roman" panose="02020603050405020304" pitchFamily="18" charset="0"/>
                <a:cs typeface="Times New Roman" panose="02020603050405020304" pitchFamily="18" charset="0"/>
              </a:rPr>
              <a:t>The uniform scale range determines the accuracy of a measurement. This can be better understood with the help of the following example:</a:t>
            </a:r>
            <a:br>
              <a:rPr lang="en-US" sz="1800" dirty="0">
                <a:latin typeface="Times New Roman" panose="02020603050405020304" pitchFamily="18" charset="0"/>
                <a:cs typeface="Times New Roman" panose="02020603050405020304" pitchFamily="18" charset="0"/>
              </a:rPr>
            </a:br>
            <a:r>
              <a:rPr lang="en-US" sz="1800" i="1" dirty="0">
                <a:latin typeface="Times New Roman" panose="02020603050405020304" pitchFamily="18" charset="0"/>
                <a:cs typeface="Times New Roman" panose="02020603050405020304" pitchFamily="18" charset="0"/>
              </a:rPr>
              <a:t>Consider a thermometer having the scale range up to 500</a:t>
            </a:r>
            <a:r>
              <a:rPr lang="en-US" sz="1800" i="1" baseline="30000" dirty="0">
                <a:latin typeface="Times New Roman" panose="02020603050405020304" pitchFamily="18" charset="0"/>
                <a:cs typeface="Times New Roman" panose="02020603050405020304" pitchFamily="18" charset="0"/>
              </a:rPr>
              <a:t>ºC</a:t>
            </a:r>
            <a:r>
              <a:rPr lang="en-US" sz="1800" i="1" dirty="0">
                <a:latin typeface="Times New Roman" panose="02020603050405020304" pitchFamily="18" charset="0"/>
                <a:cs typeface="Times New Roman" panose="02020603050405020304" pitchFamily="18" charset="0"/>
              </a:rPr>
              <a:t>. The thermometer has an accuracy of ±0.5 percent of scale range i.e. 0.005 x 500 = ± 2.5 ºC. Therefore, the reading will have a maximum error of ± 2.5 ºC.</a:t>
            </a:r>
            <a:endParaRPr lang="en-US" sz="1800" dirty="0">
              <a:latin typeface="Times New Roman" panose="02020603050405020304" pitchFamily="18" charset="0"/>
              <a:cs typeface="Times New Roman" panose="02020603050405020304" pitchFamily="18" charset="0"/>
            </a:endParaRPr>
          </a:p>
          <a:p>
            <a:pPr lvl="2"/>
            <a:r>
              <a:rPr lang="en-US" sz="1800" dirty="0">
                <a:latin typeface="Times New Roman" panose="02020603050405020304" pitchFamily="18" charset="0"/>
                <a:cs typeface="Times New Roman" panose="02020603050405020304" pitchFamily="18" charset="0"/>
              </a:rPr>
              <a:t>Accuracy as Percentage of True Value</a:t>
            </a:r>
          </a:p>
          <a:p>
            <a:r>
              <a:rPr lang="en-US" sz="1800" dirty="0">
                <a:latin typeface="Times New Roman" panose="02020603050405020304" pitchFamily="18" charset="0"/>
                <a:cs typeface="Times New Roman" panose="02020603050405020304" pitchFamily="18" charset="0"/>
              </a:rPr>
              <a:t>Such type of accuracy of the instruments is determined by identifying the measured value regarding their true value. The accuracy of the instruments is neglected up to ±0.5 percent from the true value.</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04653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3870" y="515299"/>
            <a:ext cx="10515600" cy="4351338"/>
          </a:xfrm>
        </p:spPr>
        <p:txBody>
          <a:bodyPr>
            <a:normAutofit/>
          </a:bodyPr>
          <a:lstStyle/>
          <a:p>
            <a:r>
              <a:rPr lang="en-US" sz="1800" b="1" dirty="0">
                <a:latin typeface="Times New Roman" panose="02020603050405020304" pitchFamily="18" charset="0"/>
                <a:cs typeface="Times New Roman" panose="02020603050405020304" pitchFamily="18" charset="0"/>
              </a:rPr>
              <a:t>Precision</a:t>
            </a:r>
          </a:p>
          <a:p>
            <a:r>
              <a:rPr lang="en-US" sz="1800" dirty="0">
                <a:latin typeface="Times New Roman" panose="02020603050405020304" pitchFamily="18" charset="0"/>
                <a:cs typeface="Times New Roman" panose="02020603050405020304" pitchFamily="18" charset="0"/>
              </a:rPr>
              <a:t>The closeness of two or more measurements to each other is known as the precision of a substance. If you weigh a given substance five times and get 3.2 kg each time, then your measurement is very precise but not necessarily accurate. Precision is independent of accuracy. The below examples will tell you about how you can be precise but not accurate and vice versa. Precision is sometimes separated into:</a:t>
            </a:r>
          </a:p>
          <a:p>
            <a:pPr lvl="2"/>
            <a:r>
              <a:rPr lang="en-US" sz="1800" dirty="0">
                <a:latin typeface="Times New Roman" panose="02020603050405020304" pitchFamily="18" charset="0"/>
                <a:cs typeface="Times New Roman" panose="02020603050405020304" pitchFamily="18" charset="0"/>
              </a:rPr>
              <a:t>Repeatability</a:t>
            </a:r>
          </a:p>
          <a:p>
            <a:r>
              <a:rPr lang="en-US" sz="1800" dirty="0">
                <a:latin typeface="Times New Roman" panose="02020603050405020304" pitchFamily="18" charset="0"/>
                <a:cs typeface="Times New Roman" panose="02020603050405020304" pitchFamily="18" charset="0"/>
              </a:rPr>
              <a:t>The variation arising when the conditions are kept identical and repeated measurements are taken during a short time period.</a:t>
            </a:r>
          </a:p>
          <a:p>
            <a:pPr lvl="2"/>
            <a:r>
              <a:rPr lang="en-US" sz="1800" dirty="0">
                <a:latin typeface="Times New Roman" panose="02020603050405020304" pitchFamily="18" charset="0"/>
                <a:cs typeface="Times New Roman" panose="02020603050405020304" pitchFamily="18" charset="0"/>
              </a:rPr>
              <a:t>Reproducibility</a:t>
            </a:r>
          </a:p>
          <a:p>
            <a:r>
              <a:rPr lang="en-US" sz="1800" dirty="0">
                <a:latin typeface="Times New Roman" panose="02020603050405020304" pitchFamily="18" charset="0"/>
                <a:cs typeface="Times New Roman" panose="02020603050405020304" pitchFamily="18" charset="0"/>
              </a:rPr>
              <a:t>The variation arises using the same measurement process among different instruments and operators, and over longer time periods.</a:t>
            </a:r>
          </a:p>
          <a:p>
            <a:r>
              <a:rPr lang="en-US" sz="1800" b="1" dirty="0">
                <a:latin typeface="Times New Roman" panose="02020603050405020304" pitchFamily="18" charset="0"/>
                <a:cs typeface="Times New Roman" panose="02020603050405020304" pitchFamily="18" charset="0"/>
              </a:rPr>
              <a:t>Conclusion</a:t>
            </a:r>
          </a:p>
          <a:p>
            <a:r>
              <a:rPr lang="en-US" sz="1900" dirty="0">
                <a:latin typeface="Times New Roman" panose="02020603050405020304" pitchFamily="18" charset="0"/>
                <a:cs typeface="Times New Roman" panose="02020603050405020304" pitchFamily="18" charset="0"/>
              </a:rPr>
              <a:t>Accuracy is the degree of closeness between a measurement and its true value. Precision is the degree to which repeated measurements under the same conditions show the same results.</a:t>
            </a:r>
          </a:p>
          <a:p>
            <a:endParaRPr lang="en-IN" dirty="0"/>
          </a:p>
        </p:txBody>
      </p:sp>
    </p:spTree>
    <p:extLst>
      <p:ext uri="{BB962C8B-B14F-4D97-AF65-F5344CB8AC3E}">
        <p14:creationId xmlns:p14="http://schemas.microsoft.com/office/powerpoint/2010/main" val="38361403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Accuracy and Precision Examples</a:t>
            </a:r>
            <a:br>
              <a:rPr lang="en-IN" dirty="0"/>
            </a:br>
            <a:endParaRPr lang="en-IN" dirty="0"/>
          </a:p>
        </p:txBody>
      </p:sp>
      <p:pic>
        <p:nvPicPr>
          <p:cNvPr id="4" name="Content Placeholder 3"/>
          <p:cNvPicPr>
            <a:picLocks noGrp="1" noChangeAspect="1"/>
          </p:cNvPicPr>
          <p:nvPr>
            <p:ph idx="1"/>
          </p:nvPr>
        </p:nvPicPr>
        <p:blipFill>
          <a:blip r:embed="rId2"/>
          <a:stretch>
            <a:fillRect/>
          </a:stretch>
        </p:blipFill>
        <p:spPr>
          <a:xfrm>
            <a:off x="1430567" y="1407883"/>
            <a:ext cx="3956462" cy="5190879"/>
          </a:xfrm>
          <a:prstGeom prst="rect">
            <a:avLst/>
          </a:prstGeom>
        </p:spPr>
      </p:pic>
      <p:sp>
        <p:nvSpPr>
          <p:cNvPr id="5" name="Rectangle 4"/>
          <p:cNvSpPr/>
          <p:nvPr/>
        </p:nvSpPr>
        <p:spPr>
          <a:xfrm>
            <a:off x="5715786" y="2554740"/>
            <a:ext cx="6096000" cy="2031325"/>
          </a:xfrm>
          <a:prstGeom prst="rect">
            <a:avLst/>
          </a:prstGeom>
        </p:spPr>
        <p:txBody>
          <a:bodyPr>
            <a:spAutoFit/>
          </a:bodyPr>
          <a:lstStyle/>
          <a:p>
            <a:r>
              <a:rPr lang="en-US" b="1" i="1" dirty="0">
                <a:solidFill>
                  <a:srgbClr val="333333"/>
                </a:solidFill>
                <a:latin typeface="Roboto"/>
              </a:rPr>
              <a:t>The top left image shows the target hit at high precision and accuracy. The top right image shows the target hit at a high accuracy but low precision. The bottom left image shows the target hit at a high precision but low accuracy. The bottom right image shows the target hit at low accuracy and low precision.</a:t>
            </a:r>
            <a:endParaRPr lang="en-IN" dirty="0"/>
          </a:p>
        </p:txBody>
      </p:sp>
    </p:spTree>
    <p:extLst>
      <p:ext uri="{BB962C8B-B14F-4D97-AF65-F5344CB8AC3E}">
        <p14:creationId xmlns:p14="http://schemas.microsoft.com/office/powerpoint/2010/main" val="33758220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Examples</a:t>
            </a:r>
            <a:br>
              <a:rPr lang="en-US" dirty="0"/>
            </a:br>
            <a:endParaRPr lang="en-IN" dirty="0"/>
          </a:p>
        </p:txBody>
      </p:sp>
      <p:sp>
        <p:nvSpPr>
          <p:cNvPr id="3" name="Content Placeholder 2"/>
          <p:cNvSpPr>
            <a:spLocks noGrp="1"/>
          </p:cNvSpPr>
          <p:nvPr>
            <p:ph idx="1"/>
          </p:nvPr>
        </p:nvSpPr>
        <p:spPr/>
        <p:txBody>
          <a:bodyPr>
            <a:normAutofit/>
          </a:bodyPr>
          <a:lstStyle/>
          <a:p>
            <a:r>
              <a:rPr lang="en-US" sz="1800" dirty="0" smtClean="0">
                <a:latin typeface="Times New Roman" panose="02020603050405020304" pitchFamily="18" charset="0"/>
                <a:cs typeface="Times New Roman" panose="02020603050405020304" pitchFamily="18" charset="0"/>
              </a:rPr>
              <a:t>If </a:t>
            </a:r>
            <a:r>
              <a:rPr lang="en-US" sz="1800" dirty="0">
                <a:latin typeface="Times New Roman" panose="02020603050405020304" pitchFamily="18" charset="0"/>
                <a:cs typeface="Times New Roman" panose="02020603050405020304" pitchFamily="18" charset="0"/>
              </a:rPr>
              <a:t>the weather temperature reads 28 °C outside and it is 28 °C outside, then the measurement is said to be accurate. If the thermometer continuously registers the same temperature for several days, the measurement is also precise.</a:t>
            </a:r>
          </a:p>
          <a:p>
            <a:r>
              <a:rPr lang="en-US" sz="1800" dirty="0">
                <a:latin typeface="Times New Roman" panose="02020603050405020304" pitchFamily="18" charset="0"/>
                <a:cs typeface="Times New Roman" panose="02020603050405020304" pitchFamily="18" charset="0"/>
              </a:rPr>
              <a:t>If you take the measurement of the mass of a body of 20 kg and you get 17.4,17,17.3 and 17.1, your weighing scale is precise but not very accurate. If your scale gives you values of 19.8, 20.5, 21.0, and 19.6, it is more accurate than the first balance but not very precise.</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59004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between Accuracy and Precision</a:t>
            </a:r>
            <a:br>
              <a:rPr lang="en-US" dirty="0"/>
            </a:br>
            <a:endParaRPr lang="en-IN" dirty="0"/>
          </a:p>
        </p:txBody>
      </p:sp>
      <p:graphicFrame>
        <p:nvGraphicFramePr>
          <p:cNvPr id="4" name="Content Placeholder 3"/>
          <p:cNvGraphicFramePr>
            <a:graphicFrameLocks noGrp="1"/>
          </p:cNvGraphicFramePr>
          <p:nvPr>
            <p:ph idx="1"/>
          </p:nvPr>
        </p:nvGraphicFramePr>
        <p:xfrm>
          <a:off x="4112126" y="1825625"/>
          <a:ext cx="3967748" cy="4351337"/>
        </p:xfrm>
        <a:graphic>
          <a:graphicData uri="http://schemas.openxmlformats.org/drawingml/2006/table">
            <a:tbl>
              <a:tblPr/>
              <a:tblGrid>
                <a:gridCol w="1983874"/>
                <a:gridCol w="1983874"/>
              </a:tblGrid>
              <a:tr h="296164">
                <a:tc>
                  <a:txBody>
                    <a:bodyPr/>
                    <a:lstStyle/>
                    <a:p>
                      <a:r>
                        <a:rPr lang="en-IN" sz="1300">
                          <a:effectLst/>
                        </a:rPr>
                        <a:t>Accuracy </a:t>
                      </a:r>
                    </a:p>
                  </a:txBody>
                  <a:tcPr marL="62650" marR="62650" marT="45564" marB="4556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IN" sz="1300">
                          <a:effectLst/>
                        </a:rPr>
                        <a:t>Precision</a:t>
                      </a:r>
                    </a:p>
                  </a:txBody>
                  <a:tcPr marL="62650" marR="62650" marT="45564" marB="4556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r h="1116312">
                <a:tc>
                  <a:txBody>
                    <a:bodyPr/>
                    <a:lstStyle/>
                    <a:p>
                      <a:r>
                        <a:rPr lang="en-US" sz="1300">
                          <a:effectLst/>
                        </a:rPr>
                        <a:t>Accuracy refers to the level of agreement between the actual measurement and the absolute measurement.</a:t>
                      </a:r>
                    </a:p>
                  </a:txBody>
                  <a:tcPr marL="62650" marR="62650" marT="45564" marB="4556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300">
                          <a:effectLst/>
                        </a:rPr>
                        <a:t>Precision implies the level of variation that lies in the values of several measurements of the same factor.</a:t>
                      </a:r>
                    </a:p>
                  </a:txBody>
                  <a:tcPr marL="62650" marR="62650" marT="45564" marB="4556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r h="706238">
                <a:tc>
                  <a:txBody>
                    <a:bodyPr/>
                    <a:lstStyle/>
                    <a:p>
                      <a:r>
                        <a:rPr lang="en-US" sz="1300">
                          <a:effectLst/>
                        </a:rPr>
                        <a:t>Represents how closely the results agree with the standard value.</a:t>
                      </a:r>
                    </a:p>
                  </a:txBody>
                  <a:tcPr marL="62650" marR="62650" marT="45564" marB="4556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300" b="0">
                          <a:effectLst/>
                        </a:rPr>
                        <a:t>Represents how closely results agree with one another.</a:t>
                      </a:r>
                      <a:endParaRPr lang="en-US" sz="1300">
                        <a:effectLst/>
                      </a:endParaRPr>
                    </a:p>
                  </a:txBody>
                  <a:tcPr marL="62650" marR="62650" marT="45564" marB="4556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r h="706238">
                <a:tc>
                  <a:txBody>
                    <a:bodyPr/>
                    <a:lstStyle/>
                    <a:p>
                      <a:r>
                        <a:rPr lang="en-US" sz="1300" b="0">
                          <a:effectLst/>
                        </a:rPr>
                        <a:t>Single-factor or measurement are needed.</a:t>
                      </a:r>
                      <a:endParaRPr lang="en-US" sz="1300">
                        <a:effectLst/>
                      </a:endParaRPr>
                    </a:p>
                  </a:txBody>
                  <a:tcPr marL="62650" marR="62650" marT="45564" marB="4556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300" b="0">
                          <a:effectLst/>
                        </a:rPr>
                        <a:t>Multiple measurements or factors are needed to comment about precision.</a:t>
                      </a:r>
                      <a:endParaRPr lang="en-US" sz="1300">
                        <a:effectLst/>
                      </a:endParaRPr>
                    </a:p>
                  </a:txBody>
                  <a:tcPr marL="62650" marR="62650" marT="45564" marB="4556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r h="1526385">
                <a:tc>
                  <a:txBody>
                    <a:bodyPr/>
                    <a:lstStyle/>
                    <a:p>
                      <a:r>
                        <a:rPr lang="en-US" sz="1300">
                          <a:effectLst/>
                        </a:rPr>
                        <a:t>It is possible for a measurement to be accurate on occasion as a fluke. For a measurement to be consistently accurate, it should also be precise.</a:t>
                      </a:r>
                    </a:p>
                  </a:txBody>
                  <a:tcPr marL="62650" marR="62650" marT="45564" marB="4556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300" dirty="0">
                          <a:effectLst/>
                        </a:rPr>
                        <a:t>Results can be precise without being accurate. Alternatively, the results can be precise and accurate.</a:t>
                      </a:r>
                    </a:p>
                  </a:txBody>
                  <a:tcPr marL="62650" marR="62650" marT="45564" marB="4556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7368696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35774"/>
          </a:xfrm>
        </p:spPr>
        <p:txBody>
          <a:bodyPr/>
          <a:lstStyle/>
          <a:p>
            <a:r>
              <a:rPr lang="en-US" dirty="0"/>
              <a:t>Random Error</a:t>
            </a:r>
            <a:endParaRPr lang="en-IN" dirty="0"/>
          </a:p>
        </p:txBody>
      </p:sp>
      <p:sp>
        <p:nvSpPr>
          <p:cNvPr id="3" name="Content Placeholder 2"/>
          <p:cNvSpPr>
            <a:spLocks noGrp="1"/>
          </p:cNvSpPr>
          <p:nvPr>
            <p:ph idx="1"/>
          </p:nvPr>
        </p:nvSpPr>
        <p:spPr>
          <a:xfrm>
            <a:off x="838200" y="1222308"/>
            <a:ext cx="10515600" cy="5301039"/>
          </a:xfrm>
        </p:spPr>
        <p:txBody>
          <a:bodyPr>
            <a:normAutofit fontScale="62500" lnSpcReduction="20000"/>
          </a:bodyPr>
          <a:lstStyle/>
          <a:p>
            <a:r>
              <a:rPr lang="en-US" sz="2900" dirty="0">
                <a:latin typeface="Times New Roman" panose="02020603050405020304" pitchFamily="18" charset="0"/>
                <a:cs typeface="Times New Roman" panose="02020603050405020304" pitchFamily="18" charset="0"/>
              </a:rPr>
              <a:t>The difference between actual values and observed values is known as an error</a:t>
            </a:r>
            <a:r>
              <a:rPr lang="en-US" sz="2900" dirty="0" smtClean="0">
                <a:latin typeface="Times New Roman" panose="02020603050405020304" pitchFamily="18" charset="0"/>
                <a:cs typeface="Times New Roman" panose="02020603050405020304" pitchFamily="18" charset="0"/>
              </a:rPr>
              <a:t>.</a:t>
            </a:r>
          </a:p>
          <a:p>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Random errors are those kinds of errors which are irregular and thus are random in nature</a:t>
            </a:r>
            <a:r>
              <a:rPr lang="en-US" sz="2900" dirty="0" smtClean="0">
                <a:latin typeface="Times New Roman" panose="02020603050405020304" pitchFamily="18" charset="0"/>
                <a:cs typeface="Times New Roman" panose="02020603050405020304" pitchFamily="18" charset="0"/>
              </a:rPr>
              <a:t>.</a:t>
            </a:r>
          </a:p>
          <a:p>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These errors shift each measurement from its actual value by some random amount as well as in a random direction</a:t>
            </a:r>
            <a:r>
              <a:rPr lang="en-US" sz="2900" dirty="0" smtClean="0">
                <a:latin typeface="Times New Roman" panose="02020603050405020304" pitchFamily="18" charset="0"/>
                <a:cs typeface="Times New Roman" panose="02020603050405020304" pitchFamily="18" charset="0"/>
              </a:rPr>
              <a:t>.</a:t>
            </a:r>
          </a:p>
          <a:p>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It is the fluctuating part of the error that actually varies from measurement to measurement</a:t>
            </a:r>
            <a:r>
              <a:rPr lang="en-US" sz="2900" dirty="0" smtClean="0">
                <a:latin typeface="Times New Roman" panose="02020603050405020304" pitchFamily="18" charset="0"/>
                <a:cs typeface="Times New Roman" panose="02020603050405020304" pitchFamily="18" charset="0"/>
              </a:rPr>
              <a:t>.</a:t>
            </a:r>
          </a:p>
          <a:p>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Sometimes, the random error is also referred to as the deviation of the total error from its mean value.</a:t>
            </a:r>
            <a:endParaRPr lang="en-IN" sz="2900" dirty="0">
              <a:latin typeface="Times New Roman" panose="02020603050405020304" pitchFamily="18" charset="0"/>
              <a:cs typeface="Times New Roman" panose="02020603050405020304" pitchFamily="18" charset="0"/>
            </a:endParaRPr>
          </a:p>
          <a:p>
            <a:r>
              <a:rPr lang="en-US" sz="2900" dirty="0">
                <a:latin typeface="Times New Roman" panose="02020603050405020304" pitchFamily="18" charset="0"/>
                <a:cs typeface="Times New Roman" panose="02020603050405020304" pitchFamily="18" charset="0"/>
              </a:rPr>
              <a:t>Random error happens because of disturbances occurring in the surroundings. These can be changes in </a:t>
            </a:r>
            <a:r>
              <a:rPr lang="en-US" sz="2900" dirty="0" smtClean="0">
                <a:latin typeface="Times New Roman" panose="02020603050405020304" pitchFamily="18" charset="0"/>
                <a:cs typeface="Times New Roman" panose="02020603050405020304" pitchFamily="18" charset="0"/>
                <a:hlinkClick r:id="rId2"/>
              </a:rPr>
              <a:t>temperature</a:t>
            </a:r>
            <a:r>
              <a:rPr lang="en-US" sz="2900" dirty="0">
                <a:latin typeface="Times New Roman" panose="02020603050405020304" pitchFamily="18" charset="0"/>
                <a:cs typeface="Times New Roman" panose="02020603050405020304" pitchFamily="18" charset="0"/>
                <a:hlinkClick r:id="rId2"/>
              </a:rPr>
              <a:t>, </a:t>
            </a:r>
            <a:r>
              <a:rPr lang="en-US" sz="2900" dirty="0">
                <a:latin typeface="Times New Roman" panose="02020603050405020304" pitchFamily="18" charset="0"/>
                <a:cs typeface="Times New Roman" panose="02020603050405020304" pitchFamily="18" charset="0"/>
              </a:rPr>
              <a:t>pressure or also due to an observer’s misreading who takes the wrong reading. </a:t>
            </a:r>
            <a:endParaRPr lang="en-US" sz="2900" dirty="0" smtClean="0">
              <a:latin typeface="Times New Roman" panose="02020603050405020304" pitchFamily="18" charset="0"/>
              <a:cs typeface="Times New Roman" panose="02020603050405020304" pitchFamily="18" charset="0"/>
            </a:endParaRPr>
          </a:p>
          <a:p>
            <a:r>
              <a:rPr lang="en-US" sz="2900" dirty="0" smtClean="0">
                <a:latin typeface="Times New Roman" panose="02020603050405020304" pitchFamily="18" charset="0"/>
                <a:cs typeface="Times New Roman" panose="02020603050405020304" pitchFamily="18" charset="0"/>
              </a:rPr>
              <a:t>The </a:t>
            </a:r>
            <a:r>
              <a:rPr lang="en-US" sz="2900" dirty="0">
                <a:latin typeface="Times New Roman" panose="02020603050405020304" pitchFamily="18" charset="0"/>
                <a:cs typeface="Times New Roman" panose="02020603050405020304" pitchFamily="18" charset="0"/>
              </a:rPr>
              <a:t>complete elimination of any kind of error is nearly impossible.</a:t>
            </a:r>
            <a:endParaRPr lang="en-IN" sz="2900" dirty="0">
              <a:latin typeface="Times New Roman" panose="02020603050405020304" pitchFamily="18" charset="0"/>
              <a:cs typeface="Times New Roman" panose="02020603050405020304" pitchFamily="18" charset="0"/>
            </a:endParaRPr>
          </a:p>
          <a:p>
            <a:r>
              <a:rPr lang="en-US" sz="2900" dirty="0" smtClean="0">
                <a:latin typeface="Times New Roman" panose="02020603050405020304" pitchFamily="18" charset="0"/>
                <a:cs typeface="Times New Roman" panose="02020603050405020304" pitchFamily="18" charset="0"/>
              </a:rPr>
              <a:t>When </a:t>
            </a:r>
            <a:r>
              <a:rPr lang="en-US" sz="2900" dirty="0">
                <a:latin typeface="Times New Roman" panose="02020603050405020304" pitchFamily="18" charset="0"/>
                <a:cs typeface="Times New Roman" panose="02020603050405020304" pitchFamily="18" charset="0"/>
              </a:rPr>
              <a:t>an experiment is performed many times. You will observe that random errors are sometimes positive and sometimes negative. Thus, the average value of a large number of the results of repeated experiments is very much close to the actual value. Yet, there is still some uncertainty about the truth of this </a:t>
            </a:r>
            <a:r>
              <a:rPr lang="en-US" sz="2900" dirty="0" smtClean="0">
                <a:latin typeface="Times New Roman" panose="02020603050405020304" pitchFamily="18" charset="0"/>
                <a:cs typeface="Times New Roman" panose="02020603050405020304" pitchFamily="18" charset="0"/>
              </a:rPr>
              <a:t>value.</a:t>
            </a:r>
          </a:p>
          <a:p>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Thus, if one wishes to be more sure of the results, one can use intervals which contain the actual value along with estimated deviation. This can be mathematically expressed as,</a:t>
            </a:r>
            <a:endParaRPr lang="en-IN" sz="2900" dirty="0">
              <a:latin typeface="Times New Roman" panose="02020603050405020304" pitchFamily="18" charset="0"/>
              <a:cs typeface="Times New Roman" panose="02020603050405020304" pitchFamily="18" charset="0"/>
            </a:endParaRPr>
          </a:p>
          <a:p>
            <a:r>
              <a:rPr lang="en-US" sz="2900" dirty="0">
                <a:latin typeface="Times New Roman" panose="02020603050405020304" pitchFamily="18" charset="0"/>
                <a:cs typeface="Times New Roman" panose="02020603050405020304" pitchFamily="18" charset="0"/>
              </a:rPr>
              <a:t> </a:t>
            </a:r>
            <a:endParaRPr lang="en-IN" sz="2900" dirty="0">
              <a:latin typeface="Times New Roman" panose="02020603050405020304" pitchFamily="18" charset="0"/>
              <a:cs typeface="Times New Roman" panose="02020603050405020304" pitchFamily="18" charset="0"/>
            </a:endParaRPr>
          </a:p>
          <a:p>
            <a:r>
              <a:rPr lang="en-US" sz="2900" dirty="0">
                <a:latin typeface="Times New Roman" panose="02020603050405020304" pitchFamily="18" charset="0"/>
                <a:cs typeface="Times New Roman" panose="02020603050405020304" pitchFamily="18" charset="0"/>
              </a:rPr>
              <a:t> </a:t>
            </a:r>
            <a:endParaRPr lang="en-IN" sz="2900" dirty="0">
              <a:latin typeface="Times New Roman" panose="02020603050405020304" pitchFamily="18" charset="0"/>
              <a:cs typeface="Times New Roman" panose="02020603050405020304" pitchFamily="18" charset="0"/>
            </a:endParaRPr>
          </a:p>
          <a:p>
            <a:r>
              <a:rPr lang="en-US" sz="2900" dirty="0">
                <a:latin typeface="Times New Roman" panose="02020603050405020304" pitchFamily="18" charset="0"/>
                <a:cs typeface="Times New Roman" panose="02020603050405020304" pitchFamily="18" charset="0"/>
              </a:rPr>
              <a:t>Here, x is the average value of many experimental trials </a:t>
            </a:r>
            <a:r>
              <a:rPr lang="en-US" sz="2900" dirty="0" smtClean="0">
                <a:latin typeface="Times New Roman" panose="02020603050405020304" pitchFamily="18" charset="0"/>
                <a:cs typeface="Times New Roman" panose="02020603050405020304" pitchFamily="18" charset="0"/>
              </a:rPr>
              <a:t>and is </a:t>
            </a:r>
            <a:r>
              <a:rPr lang="en-US" sz="2900" dirty="0">
                <a:latin typeface="Times New Roman" panose="02020603050405020304" pitchFamily="18" charset="0"/>
                <a:cs typeface="Times New Roman" panose="02020603050405020304" pitchFamily="18" charset="0"/>
              </a:rPr>
              <a:t>the deviation that defines the order of uncertainty.</a:t>
            </a:r>
            <a:endParaRPr lang="en-IN" sz="2900" dirty="0">
              <a:latin typeface="Times New Roman" panose="02020603050405020304" pitchFamily="18" charset="0"/>
              <a:cs typeface="Times New Roman" panose="02020603050405020304" pitchFamily="18" charset="0"/>
            </a:endParaRPr>
          </a:p>
          <a:p>
            <a:endParaRPr lang="en-IN" dirty="0"/>
          </a:p>
        </p:txBody>
      </p:sp>
      <p:pic>
        <p:nvPicPr>
          <p:cNvPr id="4" name="Picture 3"/>
          <p:cNvPicPr>
            <a:picLocks noChangeAspect="1"/>
          </p:cNvPicPr>
          <p:nvPr/>
        </p:nvPicPr>
        <p:blipFill>
          <a:blip r:embed="rId3"/>
          <a:stretch>
            <a:fillRect/>
          </a:stretch>
        </p:blipFill>
        <p:spPr>
          <a:xfrm>
            <a:off x="3288792" y="5130334"/>
            <a:ext cx="825600" cy="349200"/>
          </a:xfrm>
          <a:prstGeom prst="rect">
            <a:avLst/>
          </a:prstGeom>
        </p:spPr>
      </p:pic>
    </p:spTree>
    <p:extLst>
      <p:ext uri="{BB962C8B-B14F-4D97-AF65-F5344CB8AC3E}">
        <p14:creationId xmlns:p14="http://schemas.microsoft.com/office/powerpoint/2010/main" val="13623887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Random Error Examples</a:t>
            </a:r>
            <a:r>
              <a:rPr lang="en-IN" b="1" dirty="0"/>
              <a:t/>
            </a:r>
            <a:br>
              <a:rPr lang="en-IN" b="1" dirty="0"/>
            </a:br>
            <a:endParaRPr lang="en-IN" dirty="0"/>
          </a:p>
        </p:txBody>
      </p:sp>
      <p:sp>
        <p:nvSpPr>
          <p:cNvPr id="3" name="Content Placeholder 2"/>
          <p:cNvSpPr>
            <a:spLocks noGrp="1"/>
          </p:cNvSpPr>
          <p:nvPr>
            <p:ph idx="1"/>
          </p:nvPr>
        </p:nvSpPr>
        <p:spPr/>
        <p:txBody>
          <a:bodyPr/>
          <a:lstStyle/>
          <a:p>
            <a:r>
              <a:rPr lang="en-US" sz="1800" dirty="0">
                <a:latin typeface="Times New Roman" panose="02020603050405020304" pitchFamily="18" charset="0"/>
                <a:cs typeface="Times New Roman" panose="02020603050405020304" pitchFamily="18" charset="0"/>
              </a:rPr>
              <a:t>Mass measurements on an analytical balance vary with the flow of air and even little mass variations in the sample.</a:t>
            </a:r>
            <a:endParaRPr lang="en-IN"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Weight measurements on a weighing scale fluctuate because it’s near to impossible to stand on the scale very same way each time. Averaging the result using multiple measurements </a:t>
            </a:r>
            <a:r>
              <a:rPr lang="en-US" sz="1800" dirty="0" err="1">
                <a:latin typeface="Times New Roman" panose="02020603050405020304" pitchFamily="18" charset="0"/>
                <a:cs typeface="Times New Roman" panose="02020603050405020304" pitchFamily="18" charset="0"/>
              </a:rPr>
              <a:t>minimises</a:t>
            </a:r>
            <a:r>
              <a:rPr lang="en-US" sz="1800" dirty="0">
                <a:latin typeface="Times New Roman" panose="02020603050405020304" pitchFamily="18" charset="0"/>
                <a:cs typeface="Times New Roman" panose="02020603050405020304" pitchFamily="18" charset="0"/>
              </a:rPr>
              <a:t> the error.</a:t>
            </a:r>
            <a:endParaRPr lang="en-IN"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Posture changes influence height measurements. Reaction speed affects timing estimation.</a:t>
            </a:r>
            <a:endParaRPr lang="en-IN"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Slight change in observing angle affects </a:t>
            </a:r>
            <a:r>
              <a:rPr lang="en-US" sz="1800" dirty="0">
                <a:latin typeface="Times New Roman" panose="02020603050405020304" pitchFamily="18" charset="0"/>
                <a:cs typeface="Times New Roman" panose="02020603050405020304" pitchFamily="18" charset="0"/>
                <a:hlinkClick r:id="rId2"/>
              </a:rPr>
              <a:t>volume </a:t>
            </a:r>
            <a:r>
              <a:rPr lang="en-US" sz="1800" dirty="0">
                <a:latin typeface="Times New Roman" panose="02020603050405020304" pitchFamily="18" charset="0"/>
                <a:cs typeface="Times New Roman" panose="02020603050405020304" pitchFamily="18" charset="0"/>
              </a:rPr>
              <a:t>measurements.</a:t>
            </a:r>
            <a:endParaRPr lang="en-IN" sz="1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651835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Sources of Random Error</a:t>
            </a:r>
            <a:r>
              <a:rPr lang="en-IN" dirty="0"/>
              <a:t/>
            </a:r>
            <a:br>
              <a:rPr lang="en-IN" dirty="0"/>
            </a:br>
            <a:endParaRPr lang="en-IN" dirty="0"/>
          </a:p>
        </p:txBody>
      </p:sp>
      <p:sp>
        <p:nvSpPr>
          <p:cNvPr id="3" name="Content Placeholder 2"/>
          <p:cNvSpPr>
            <a:spLocks noGrp="1"/>
          </p:cNvSpPr>
          <p:nvPr>
            <p:ph idx="1"/>
          </p:nvPr>
        </p:nvSpPr>
        <p:spPr/>
        <p:txBody>
          <a:bodyPr/>
          <a:lstStyle/>
          <a:p>
            <a:r>
              <a:rPr lang="en-US" sz="1800" dirty="0">
                <a:latin typeface="Times New Roman" panose="02020603050405020304" pitchFamily="18" charset="0"/>
                <a:cs typeface="Times New Roman" panose="02020603050405020304" pitchFamily="18" charset="0"/>
              </a:rPr>
              <a:t>Instruments limitations</a:t>
            </a:r>
            <a:endParaRPr lang="en-IN"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Environmental factors like variations in pressure and temperature </a:t>
            </a:r>
            <a:endParaRPr lang="en-US" sz="1800" dirty="0" smtClean="0">
              <a:latin typeface="Times New Roman" panose="02020603050405020304" pitchFamily="18" charset="0"/>
              <a:cs typeface="Times New Roman" panose="02020603050405020304" pitchFamily="18" charset="0"/>
            </a:endParaRPr>
          </a:p>
          <a:p>
            <a:r>
              <a:rPr lang="en-US" sz="1800" dirty="0" smtClean="0">
                <a:latin typeface="Times New Roman" panose="02020603050405020304" pitchFamily="18" charset="0"/>
                <a:cs typeface="Times New Roman" panose="02020603050405020304" pitchFamily="18" charset="0"/>
              </a:rPr>
              <a:t>Due </a:t>
            </a:r>
            <a:r>
              <a:rPr lang="en-US" sz="1800" dirty="0">
                <a:latin typeface="Times New Roman" panose="02020603050405020304" pitchFamily="18" charset="0"/>
                <a:cs typeface="Times New Roman" panose="02020603050405020304" pitchFamily="18" charset="0"/>
              </a:rPr>
              <a:t>to mishandling or wrong reading by observers</a:t>
            </a:r>
            <a:endParaRPr lang="en-IN" sz="1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6190144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to Reduce Random Error</a:t>
            </a:r>
            <a:r>
              <a:rPr lang="en-IN" b="1" dirty="0"/>
              <a:t/>
            </a:r>
            <a:br>
              <a:rPr lang="en-IN" b="1" dirty="0"/>
            </a:br>
            <a:endParaRPr lang="en-IN" dirty="0"/>
          </a:p>
        </p:txBody>
      </p:sp>
      <p:sp>
        <p:nvSpPr>
          <p:cNvPr id="3" name="Content Placeholder 2"/>
          <p:cNvSpPr>
            <a:spLocks noGrp="1"/>
          </p:cNvSpPr>
          <p:nvPr>
            <p:ph idx="1"/>
          </p:nvPr>
        </p:nvSpPr>
        <p:spPr/>
        <p:txBody>
          <a:bodyPr>
            <a:normAutofit/>
          </a:bodyPr>
          <a:lstStyle/>
          <a:p>
            <a:r>
              <a:rPr lang="en-US" sz="1800" dirty="0">
                <a:latin typeface="Times New Roman" panose="02020603050405020304" pitchFamily="18" charset="0"/>
                <a:cs typeface="Times New Roman" panose="02020603050405020304" pitchFamily="18" charset="0"/>
              </a:rPr>
              <a:t>Random errors can be reduced using the following methods: </a:t>
            </a:r>
            <a:endParaRPr lang="en-US" sz="1800" dirty="0" smtClean="0">
              <a:latin typeface="Times New Roman" panose="02020603050405020304" pitchFamily="18" charset="0"/>
              <a:cs typeface="Times New Roman" panose="02020603050405020304" pitchFamily="18" charset="0"/>
            </a:endParaRPr>
          </a:p>
          <a:p>
            <a:pPr lvl="1"/>
            <a:r>
              <a:rPr lang="en-US" sz="2000" dirty="0" smtClean="0">
                <a:latin typeface="Times New Roman" panose="02020603050405020304" pitchFamily="18" charset="0"/>
                <a:cs typeface="Times New Roman" panose="02020603050405020304" pitchFamily="18" charset="0"/>
              </a:rPr>
              <a:t>By </a:t>
            </a:r>
            <a:r>
              <a:rPr lang="en-US" sz="2000" dirty="0">
                <a:latin typeface="Times New Roman" panose="02020603050405020304" pitchFamily="18" charset="0"/>
                <a:cs typeface="Times New Roman" panose="02020603050405020304" pitchFamily="18" charset="0"/>
              </a:rPr>
              <a:t>increasing sample size</a:t>
            </a:r>
            <a:endParaRPr lang="en-IN"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By repeating the experiments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84331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Random Error</a:t>
            </a:r>
            <a:r>
              <a:rPr lang="en-IN" dirty="0"/>
              <a:t/>
            </a:r>
            <a:br>
              <a:rPr lang="en-IN" dirty="0"/>
            </a:br>
            <a:endParaRPr lang="en-IN" dirty="0"/>
          </a:p>
        </p:txBody>
      </p:sp>
      <p:sp>
        <p:nvSpPr>
          <p:cNvPr id="3" name="Content Placeholder 2"/>
          <p:cNvSpPr>
            <a:spLocks noGrp="1"/>
          </p:cNvSpPr>
          <p:nvPr>
            <p:ph idx="1"/>
          </p:nvPr>
        </p:nvSpPr>
        <p:spPr/>
        <p:txBody>
          <a:bodyPr>
            <a:normAutofit/>
          </a:bodyPr>
          <a:lstStyle/>
          <a:p>
            <a:r>
              <a:rPr lang="en-US" sz="1800" b="1" dirty="0" smtClean="0">
                <a:latin typeface="Times New Roman" panose="02020603050405020304" pitchFamily="18" charset="0"/>
                <a:cs typeface="Times New Roman" panose="02020603050405020304" pitchFamily="18" charset="0"/>
              </a:rPr>
              <a:t>Environmental </a:t>
            </a:r>
            <a:r>
              <a:rPr lang="en-US" sz="1800" b="1" dirty="0">
                <a:latin typeface="Times New Roman" panose="02020603050405020304" pitchFamily="18" charset="0"/>
                <a:cs typeface="Times New Roman" panose="02020603050405020304" pitchFamily="18" charset="0"/>
              </a:rPr>
              <a:t>Errors: </a:t>
            </a:r>
            <a:r>
              <a:rPr lang="en-US" sz="1800" dirty="0">
                <a:latin typeface="Times New Roman" panose="02020603050405020304" pitchFamily="18" charset="0"/>
                <a:cs typeface="Times New Roman" panose="02020603050405020304" pitchFamily="18" charset="0"/>
              </a:rPr>
              <a:t>Errors that occur due to any unpredictable change in the </a:t>
            </a:r>
            <a:r>
              <a:rPr lang="en-US" sz="1800" dirty="0">
                <a:latin typeface="Times New Roman" panose="02020603050405020304" pitchFamily="18" charset="0"/>
                <a:cs typeface="Times New Roman" panose="02020603050405020304" pitchFamily="18" charset="0"/>
                <a:hlinkClick r:id="rId2"/>
              </a:rPr>
              <a:t>environment</a:t>
            </a:r>
            <a:endParaRPr lang="en-IN"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Observational Errors: </a:t>
            </a:r>
            <a:r>
              <a:rPr lang="en-US" sz="1800" dirty="0">
                <a:latin typeface="Times New Roman" panose="02020603050405020304" pitchFamily="18" charset="0"/>
                <a:cs typeface="Times New Roman" panose="02020603050405020304" pitchFamily="18" charset="0"/>
              </a:rPr>
              <a:t>These types of errors generally occur due to any mishandling or judgment </a:t>
            </a:r>
            <a:r>
              <a:rPr lang="en-US" sz="1800" dirty="0" smtClean="0">
                <a:latin typeface="Times New Roman" panose="02020603050405020304" pitchFamily="18" charset="0"/>
                <a:cs typeface="Times New Roman" panose="02020603050405020304" pitchFamily="18" charset="0"/>
              </a:rPr>
              <a:t>made</a:t>
            </a:r>
            <a:r>
              <a:rPr lang="en-IN"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by </a:t>
            </a:r>
            <a:r>
              <a:rPr lang="en-US" sz="1800" dirty="0">
                <a:latin typeface="Times New Roman" panose="02020603050405020304" pitchFamily="18" charset="0"/>
                <a:cs typeface="Times New Roman" panose="02020603050405020304" pitchFamily="18" charset="0"/>
              </a:rPr>
              <a:t>the observer.</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4658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statistical treatment of data</a:t>
            </a:r>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Statistical treatment’ is when you apply a statistical method to a data set to draw meaning from it.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Statistical </a:t>
            </a:r>
            <a:r>
              <a:rPr lang="en-US" sz="2000" dirty="0">
                <a:latin typeface="Times New Roman" panose="02020603050405020304" pitchFamily="18" charset="0"/>
                <a:cs typeface="Times New Roman" panose="02020603050405020304" pitchFamily="18" charset="0"/>
              </a:rPr>
              <a:t>treatment can be either descriptive statistics, which describes the relationship between variables in a population, or inferential statistics, which tests a hypothesis by making inferences from the collected data.</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70590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Statistical Treatment of Data?</a:t>
            </a:r>
            <a:br>
              <a:rPr lang="en-US" dirty="0"/>
            </a:br>
            <a:endParaRPr lang="en-IN" dirty="0"/>
          </a:p>
        </p:txBody>
      </p:sp>
      <p:sp>
        <p:nvSpPr>
          <p:cNvPr id="3" name="Content Placeholder 2"/>
          <p:cNvSpPr>
            <a:spLocks noGrp="1"/>
          </p:cNvSpPr>
          <p:nvPr>
            <p:ph idx="1"/>
          </p:nvPr>
        </p:nvSpPr>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Statistical treatment of data is when you apply some form of statistical method to a data set to transform it from a group of meaningless numbers into meaningful output.</a:t>
            </a:r>
          </a:p>
          <a:p>
            <a:r>
              <a:rPr lang="en-US" dirty="0">
                <a:latin typeface="Times New Roman" panose="02020603050405020304" pitchFamily="18" charset="0"/>
                <a:cs typeface="Times New Roman" panose="02020603050405020304" pitchFamily="18" charset="0"/>
              </a:rPr>
              <a:t>Statistical treatment of data involves the use of statistical methods such as:</a:t>
            </a:r>
          </a:p>
          <a:p>
            <a:pPr fontAlgn="base"/>
            <a:r>
              <a:rPr lang="en-US" dirty="0">
                <a:latin typeface="Times New Roman" panose="02020603050405020304" pitchFamily="18" charset="0"/>
                <a:cs typeface="Times New Roman" panose="02020603050405020304" pitchFamily="18" charset="0"/>
              </a:rPr>
              <a:t>mean,</a:t>
            </a:r>
          </a:p>
          <a:p>
            <a:pPr fontAlgn="base"/>
            <a:r>
              <a:rPr lang="en-US" dirty="0">
                <a:latin typeface="Times New Roman" panose="02020603050405020304" pitchFamily="18" charset="0"/>
                <a:cs typeface="Times New Roman" panose="02020603050405020304" pitchFamily="18" charset="0"/>
              </a:rPr>
              <a:t>mode,</a:t>
            </a:r>
          </a:p>
          <a:p>
            <a:pPr fontAlgn="base"/>
            <a:r>
              <a:rPr lang="en-US" dirty="0">
                <a:latin typeface="Times New Roman" panose="02020603050405020304" pitchFamily="18" charset="0"/>
                <a:cs typeface="Times New Roman" panose="02020603050405020304" pitchFamily="18" charset="0"/>
              </a:rPr>
              <a:t>median,</a:t>
            </a:r>
          </a:p>
          <a:p>
            <a:pPr fontAlgn="base"/>
            <a:r>
              <a:rPr lang="en-US" dirty="0">
                <a:latin typeface="Times New Roman" panose="02020603050405020304" pitchFamily="18" charset="0"/>
                <a:cs typeface="Times New Roman" panose="02020603050405020304" pitchFamily="18" charset="0"/>
              </a:rPr>
              <a:t>regression,</a:t>
            </a:r>
          </a:p>
          <a:p>
            <a:pPr fontAlgn="base"/>
            <a:r>
              <a:rPr lang="en-US" dirty="0">
                <a:latin typeface="Times New Roman" panose="02020603050405020304" pitchFamily="18" charset="0"/>
                <a:cs typeface="Times New Roman" panose="02020603050405020304" pitchFamily="18" charset="0"/>
              </a:rPr>
              <a:t>conditional probability,</a:t>
            </a:r>
          </a:p>
          <a:p>
            <a:pPr fontAlgn="base"/>
            <a:r>
              <a:rPr lang="en-US" dirty="0">
                <a:latin typeface="Times New Roman" panose="02020603050405020304" pitchFamily="18" charset="0"/>
                <a:cs typeface="Times New Roman" panose="02020603050405020304" pitchFamily="18" charset="0"/>
              </a:rPr>
              <a:t>sampling,</a:t>
            </a:r>
          </a:p>
          <a:p>
            <a:pPr fontAlgn="base"/>
            <a:r>
              <a:rPr lang="en-US" dirty="0">
                <a:latin typeface="Times New Roman" panose="02020603050405020304" pitchFamily="18" charset="0"/>
                <a:cs typeface="Times New Roman" panose="02020603050405020304" pitchFamily="18" charset="0"/>
              </a:rPr>
              <a:t>standard deviation and</a:t>
            </a:r>
          </a:p>
          <a:p>
            <a:pPr fontAlgn="base"/>
            <a:r>
              <a:rPr lang="en-US" dirty="0">
                <a:latin typeface="Times New Roman" panose="02020603050405020304" pitchFamily="18" charset="0"/>
                <a:cs typeface="Times New Roman" panose="02020603050405020304" pitchFamily="18" charset="0"/>
              </a:rPr>
              <a:t>distribution range.</a:t>
            </a:r>
          </a:p>
          <a:p>
            <a:r>
              <a:rPr lang="en-US" dirty="0">
                <a:latin typeface="Times New Roman" panose="02020603050405020304" pitchFamily="18" charset="0"/>
                <a:cs typeface="Times New Roman" panose="02020603050405020304" pitchFamily="18" charset="0"/>
              </a:rPr>
              <a:t>These statistical methods allow us to investigate the statistical relationships between the data and identify possible errors in the study.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13701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9346" y="411605"/>
            <a:ext cx="10515600" cy="4351338"/>
          </a:xfrm>
        </p:spPr>
        <p:txBody>
          <a:bodyPr>
            <a:normAutofit/>
          </a:bodyPr>
          <a:lstStyle/>
          <a:p>
            <a:r>
              <a:rPr lang="en-US" sz="2000" dirty="0">
                <a:latin typeface="Times New Roman" panose="02020603050405020304" pitchFamily="18" charset="0"/>
                <a:cs typeface="Times New Roman" panose="02020603050405020304" pitchFamily="18" charset="0"/>
              </a:rPr>
              <a:t>In addition to being able to identify trends, statistical treatment also allows us to </a:t>
            </a:r>
            <a:r>
              <a:rPr lang="en-US" sz="2000" dirty="0" err="1">
                <a:latin typeface="Times New Roman" panose="02020603050405020304" pitchFamily="18" charset="0"/>
                <a:cs typeface="Times New Roman" panose="02020603050405020304" pitchFamily="18" charset="0"/>
              </a:rPr>
              <a:t>organise</a:t>
            </a:r>
            <a:r>
              <a:rPr lang="en-US" sz="2000" dirty="0">
                <a:latin typeface="Times New Roman" panose="02020603050405020304" pitchFamily="18" charset="0"/>
                <a:cs typeface="Times New Roman" panose="02020603050405020304" pitchFamily="18" charset="0"/>
              </a:rPr>
              <a:t> and process our data in the first place. This is because when carrying out statistical analysis of our data, it is generally more useful to draw several conclusions for each subgroup within our population than to draw a single, more general conclusion for the whole population. However, to do this, we need to be able to classify the population into different subgroups so that we can later break down our data in the same way before </a:t>
            </a:r>
            <a:r>
              <a:rPr lang="en-US" sz="2000" dirty="0" err="1">
                <a:latin typeface="Times New Roman" panose="02020603050405020304" pitchFamily="18" charset="0"/>
                <a:cs typeface="Times New Roman" panose="02020603050405020304" pitchFamily="18" charset="0"/>
              </a:rPr>
              <a:t>analysing</a:t>
            </a:r>
            <a:r>
              <a:rPr lang="en-US" sz="2000" dirty="0">
                <a:latin typeface="Times New Roman" panose="02020603050405020304" pitchFamily="18" charset="0"/>
                <a:cs typeface="Times New Roman" panose="02020603050405020304" pitchFamily="18" charset="0"/>
              </a:rPr>
              <a:t> it.</a:t>
            </a:r>
            <a:endParaRPr lang="en-IN"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462796" y="2587274"/>
            <a:ext cx="5257015" cy="2269258"/>
          </a:xfrm>
          <a:prstGeom prst="rect">
            <a:avLst/>
          </a:prstGeom>
        </p:spPr>
      </p:pic>
      <p:sp>
        <p:nvSpPr>
          <p:cNvPr id="5" name="Rectangle 4"/>
          <p:cNvSpPr/>
          <p:nvPr/>
        </p:nvSpPr>
        <p:spPr>
          <a:xfrm>
            <a:off x="5719811" y="2587274"/>
            <a:ext cx="6096000" cy="2862322"/>
          </a:xfrm>
          <a:prstGeom prst="rect">
            <a:avLst/>
          </a:prstGeom>
        </p:spPr>
        <p:txBody>
          <a:bodyPr>
            <a:spAutoFit/>
          </a:bodyPr>
          <a:lstStyle/>
          <a:p>
            <a:pPr marL="285750" indent="-285750" algn="just">
              <a:buFont typeface="Arial" panose="020B0604020202020204" pitchFamily="34" charset="0"/>
              <a:buChar char="•"/>
            </a:pPr>
            <a:r>
              <a:rPr lang="en-US" dirty="0">
                <a:solidFill>
                  <a:srgbClr val="0A0A0A"/>
                </a:solidFill>
                <a:latin typeface="Times New Roman" panose="02020603050405020304" pitchFamily="18" charset="0"/>
                <a:cs typeface="Times New Roman" panose="02020603050405020304" pitchFamily="18" charset="0"/>
              </a:rPr>
              <a:t>For a statistical treatment of data example, consider a medical study that is investigating the effect of a drug on the human population. </a:t>
            </a:r>
            <a:endParaRPr lang="en-US" dirty="0" smtClean="0">
              <a:solidFill>
                <a:srgbClr val="0A0A0A"/>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solidFill>
                  <a:srgbClr val="0A0A0A"/>
                </a:solidFill>
                <a:latin typeface="Times New Roman" panose="02020603050405020304" pitchFamily="18" charset="0"/>
                <a:cs typeface="Times New Roman" panose="02020603050405020304" pitchFamily="18" charset="0"/>
              </a:rPr>
              <a:t>As </a:t>
            </a:r>
            <a:r>
              <a:rPr lang="en-US" dirty="0">
                <a:solidFill>
                  <a:srgbClr val="0A0A0A"/>
                </a:solidFill>
                <a:latin typeface="Times New Roman" panose="02020603050405020304" pitchFamily="18" charset="0"/>
                <a:cs typeface="Times New Roman" panose="02020603050405020304" pitchFamily="18" charset="0"/>
              </a:rPr>
              <a:t>the drug can affect different people in different ways based on parameters such as gender, age and race, the researchers would want to group the data into different subgroups based on these parameters to determine how each one affects the effectiveness of the drug. </a:t>
            </a:r>
            <a:endParaRPr lang="en-US" dirty="0" smtClean="0">
              <a:solidFill>
                <a:srgbClr val="0A0A0A"/>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err="1" smtClean="0">
                <a:solidFill>
                  <a:srgbClr val="0A0A0A"/>
                </a:solidFill>
                <a:latin typeface="Times New Roman" panose="02020603050405020304" pitchFamily="18" charset="0"/>
                <a:cs typeface="Times New Roman" panose="02020603050405020304" pitchFamily="18" charset="0"/>
              </a:rPr>
              <a:t>Categorising</a:t>
            </a:r>
            <a:r>
              <a:rPr lang="en-US" dirty="0" smtClean="0">
                <a:solidFill>
                  <a:srgbClr val="0A0A0A"/>
                </a:solidFill>
                <a:latin typeface="Times New Roman" panose="02020603050405020304" pitchFamily="18" charset="0"/>
                <a:cs typeface="Times New Roman" panose="02020603050405020304" pitchFamily="18" charset="0"/>
              </a:rPr>
              <a:t> </a:t>
            </a:r>
            <a:r>
              <a:rPr lang="en-US" dirty="0">
                <a:solidFill>
                  <a:srgbClr val="0A0A0A"/>
                </a:solidFill>
                <a:latin typeface="Times New Roman" panose="02020603050405020304" pitchFamily="18" charset="0"/>
                <a:cs typeface="Times New Roman" panose="02020603050405020304" pitchFamily="18" charset="0"/>
              </a:rPr>
              <a:t>the data in this way is an example of performing basic statistical treatment.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32216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statistical treatment of data 	</a:t>
            </a:r>
            <a:br>
              <a:rPr lang="en-IN" dirty="0"/>
            </a:br>
            <a:endParaRPr lang="en-IN" dirty="0"/>
          </a:p>
        </p:txBody>
      </p:sp>
      <p:sp>
        <p:nvSpPr>
          <p:cNvPr id="8" name="Content Placeholder 2"/>
          <p:cNvSpPr txBox="1">
            <a:spLocks/>
          </p:cNvSpPr>
          <p:nvPr/>
        </p:nvSpPr>
        <p:spPr>
          <a:xfrm>
            <a:off x="14463251" y="4748212"/>
            <a:ext cx="8592053" cy="198802"/>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mtClean="0"/>
              <a:t>	</a:t>
            </a:r>
            <a:endParaRPr lang="en-IN" dirty="0"/>
          </a:p>
        </p:txBody>
      </p:sp>
      <p:pic>
        <p:nvPicPr>
          <p:cNvPr id="9" name="Picture 2" descr="Frequency and Percentage Distribution&#10;Used to determine the percentage usually for&#10;data on profile(e.g. level, age, gend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874" y="1867669"/>
            <a:ext cx="5584971" cy="418873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Mean&#10;Used to get average or central value (e.g.&#10;level, extent, status, etc.)&#10;Formula:&#10;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4214" y="1918218"/>
            <a:ext cx="5480456" cy="4110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4015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a:p>
        </p:txBody>
      </p:sp>
      <p:pic>
        <p:nvPicPr>
          <p:cNvPr id="4" name="Picture 2" descr="T-test&#10;Used to determine two (2) variable means&#10;which differ significantly or to test the&#10;significant difference between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169" y="1690688"/>
            <a:ext cx="5613988" cy="42104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7" descr="Pearson Product – Moment Correlation&#10;Coefficient&#10;Used to find the degree of the association of&#10;two sets of variables, X 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4038" y="1825625"/>
            <a:ext cx="5360697" cy="4020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88346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8" name="Picture 8" descr="Multiple Regression&#10;Used to predict, singly or in combination, from&#10;among the independent variables the&#10;dependent variables&#10;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490" y="1143000"/>
            <a:ext cx="5688396" cy="426629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9"/>
          <p:cNvSpPr>
            <a:spLocks noChangeArrowheads="1"/>
          </p:cNvSpPr>
          <p:nvPr/>
        </p:nvSpPr>
        <p:spPr bwMode="auto">
          <a:xfrm>
            <a:off x="2790334" y="1660468"/>
            <a:ext cx="1924000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rPr>
              <a:t/>
            </a:r>
            <a:br>
              <a:rPr kumimoji="0" lang="en-US" sz="1800" b="0" i="0" u="none" strike="noStrike" cap="none" normalizeH="0" baseline="0" smtClean="0">
                <a:ln>
                  <a:noFill/>
                </a:ln>
                <a:solidFill>
                  <a:schemeClr val="tx1"/>
                </a:solidFill>
                <a:effectLst/>
                <a:latin typeface="Arial" panose="020B0604020202020204" pitchFamily="34" charset="0"/>
              </a:rPr>
            </a:br>
            <a:endParaRPr kumimoji="0" lang="en-US" sz="1800" b="0" i="0" u="none" strike="noStrike" cap="none" normalizeH="0" baseline="0" smtClean="0">
              <a:ln>
                <a:noFill/>
              </a:ln>
              <a:solidFill>
                <a:schemeClr val="tx1"/>
              </a:solidFill>
              <a:effectLst/>
              <a:latin typeface="Arial" panose="020B0604020202020204" pitchFamily="34" charset="0"/>
            </a:endParaRPr>
          </a:p>
        </p:txBody>
      </p:sp>
      <p:pic>
        <p:nvPicPr>
          <p:cNvPr id="13" name="Picture 1" descr="Statistical Treat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0892" y="1143000"/>
            <a:ext cx="5553713" cy="4165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54824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systematic errors 	</a:t>
            </a:r>
            <a:br>
              <a:rPr lang="en-IN" dirty="0"/>
            </a:br>
            <a:endParaRPr lang="en-IN" dirty="0"/>
          </a:p>
        </p:txBody>
      </p:sp>
      <p:pic>
        <p:nvPicPr>
          <p:cNvPr id="5" name="Content Placeholder 4"/>
          <p:cNvPicPr>
            <a:picLocks noGrp="1" noChangeAspect="1"/>
          </p:cNvPicPr>
          <p:nvPr>
            <p:ph idx="1"/>
          </p:nvPr>
        </p:nvPicPr>
        <p:blipFill>
          <a:blip r:embed="rId2"/>
          <a:stretch>
            <a:fillRect/>
          </a:stretch>
        </p:blipFill>
        <p:spPr>
          <a:xfrm>
            <a:off x="2383305" y="1690688"/>
            <a:ext cx="6599154" cy="4326903"/>
          </a:xfrm>
          <a:prstGeom prst="rect">
            <a:avLst/>
          </a:prstGeom>
        </p:spPr>
      </p:pic>
      <p:sp>
        <p:nvSpPr>
          <p:cNvPr id="4" name="Rectangle 2"/>
          <p:cNvSpPr>
            <a:spLocks noChangeArrowheads="1"/>
          </p:cNvSpPr>
          <p:nvPr/>
        </p:nvSpPr>
        <p:spPr bwMode="auto">
          <a:xfrm>
            <a:off x="3610466" y="236612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rPr>
              <a:t/>
            </a:r>
            <a:br>
              <a:rPr kumimoji="0" lang="en-US" sz="1800" b="0" i="0" u="none" strike="noStrike" cap="none" normalizeH="0" baseline="0" smtClean="0">
                <a:ln>
                  <a:noFill/>
                </a:ln>
                <a:solidFill>
                  <a:schemeClr val="tx1"/>
                </a:solidFill>
                <a:effectLst/>
                <a:latin typeface="Arial" panose="020B0604020202020204" pitchFamily="34" charset="0"/>
              </a:rPr>
            </a:br>
            <a:endParaRPr kumimoji="0" 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228930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2085121" y="2349464"/>
            <a:ext cx="7486154" cy="2684449"/>
          </a:xfrm>
          <a:prstGeom prst="rect">
            <a:avLst/>
          </a:prstGeom>
        </p:spPr>
      </p:pic>
    </p:spTree>
    <p:extLst>
      <p:ext uri="{BB962C8B-B14F-4D97-AF65-F5344CB8AC3E}">
        <p14:creationId xmlns:p14="http://schemas.microsoft.com/office/powerpoint/2010/main" val="3057920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sz="2000" dirty="0">
                <a:latin typeface="Times New Roman" panose="02020603050405020304" pitchFamily="18" charset="0"/>
                <a:cs typeface="Times New Roman" panose="02020603050405020304" pitchFamily="18" charset="0"/>
              </a:rPr>
              <a:t>Systematic error as the name implies is a consistent or reoccurring error that is caused by incorrect use or generally bad experimental equipment. With systematic error, you can expect the result of each experiment to differ from the value in the original data.</a:t>
            </a:r>
          </a:p>
          <a:p>
            <a:r>
              <a:rPr lang="en-US" sz="2000" dirty="0">
                <a:latin typeface="Times New Roman" panose="02020603050405020304" pitchFamily="18" charset="0"/>
                <a:cs typeface="Times New Roman" panose="02020603050405020304" pitchFamily="18" charset="0"/>
              </a:rPr>
              <a:t>This is also known as systematic bias because the errors will hide the correct result, thus leading the researcher to wrong conclusions</a:t>
            </a:r>
          </a:p>
          <a:p>
            <a:endParaRPr lang="en-IN" dirty="0"/>
          </a:p>
        </p:txBody>
      </p:sp>
    </p:spTree>
    <p:extLst>
      <p:ext uri="{BB962C8B-B14F-4D97-AF65-F5344CB8AC3E}">
        <p14:creationId xmlns:p14="http://schemas.microsoft.com/office/powerpoint/2010/main" val="1785724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Systematic Errors</a:t>
            </a:r>
            <a:r>
              <a:rPr lang="en-IN" dirty="0"/>
              <a:t/>
            </a:r>
            <a:br>
              <a:rPr lang="en-IN" dirty="0"/>
            </a:br>
            <a:endParaRPr lang="en-IN" dirty="0"/>
          </a:p>
        </p:txBody>
      </p:sp>
      <p:sp>
        <p:nvSpPr>
          <p:cNvPr id="3" name="Content Placeholder 2"/>
          <p:cNvSpPr>
            <a:spLocks noGrp="1"/>
          </p:cNvSpPr>
          <p:nvPr>
            <p:ph idx="1"/>
          </p:nvPr>
        </p:nvSpPr>
        <p:spPr/>
        <p:txBody>
          <a:bodyPr>
            <a:normAutofit/>
          </a:bodyPr>
          <a:lstStyle/>
          <a:p>
            <a:r>
              <a:rPr lang="en-US" sz="2000" b="1" dirty="0">
                <a:latin typeface="Times New Roman" panose="02020603050405020304" pitchFamily="18" charset="0"/>
                <a:cs typeface="Times New Roman" panose="02020603050405020304" pitchFamily="18" charset="0"/>
              </a:rPr>
              <a:t>1. Offset Error</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Before starting your experiment, your scale should be set to zero points. The offset error occurs when the measurement scale is not set to zero points before weighing your items. </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28387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7310" y="562433"/>
            <a:ext cx="10515600" cy="4047274"/>
          </a:xfrm>
        </p:spPr>
        <p:txBody>
          <a:bodyPr>
            <a:normAutofit fontScale="92500" lnSpcReduction="10000"/>
          </a:bodyPr>
          <a:lstStyle/>
          <a:p>
            <a:r>
              <a:rPr lang="en-US" sz="2200" b="1" dirty="0">
                <a:latin typeface="Times New Roman" panose="02020603050405020304" pitchFamily="18" charset="0"/>
                <a:cs typeface="Times New Roman" panose="02020603050405020304" pitchFamily="18" charset="0"/>
              </a:rPr>
              <a:t>2. Scale Factor Error</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This is also known as multiple errors.</a:t>
            </a:r>
          </a:p>
          <a:p>
            <a:r>
              <a:rPr lang="en-US" sz="2200" dirty="0">
                <a:latin typeface="Times New Roman" panose="02020603050405020304" pitchFamily="18" charset="0"/>
                <a:cs typeface="Times New Roman" panose="02020603050405020304" pitchFamily="18" charset="0"/>
              </a:rPr>
              <a:t>The scale factor error results from changes in the value or size of your scale that differs from its actual size.</a:t>
            </a:r>
          </a:p>
          <a:p>
            <a:r>
              <a:rPr lang="en-US" sz="2200" dirty="0">
                <a:latin typeface="Times New Roman" panose="02020603050405020304" pitchFamily="18" charset="0"/>
                <a:cs typeface="Times New Roman" panose="02020603050405020304" pitchFamily="18" charset="0"/>
              </a:rPr>
              <a:t>Let us consider a scenario whereby your scale repeatedly adds an extra 5% to your measurements. So when you’re measuring a value of 10kg, your scale shows a result of 10.5kg. </a:t>
            </a:r>
          </a:p>
          <a:p>
            <a:r>
              <a:rPr lang="en-US" sz="2200" dirty="0">
                <a:latin typeface="Times New Roman" panose="02020603050405020304" pitchFamily="18" charset="0"/>
                <a:cs typeface="Times New Roman" panose="02020603050405020304" pitchFamily="18" charset="0"/>
              </a:rPr>
              <a:t>The implication is that, because the scale is not reading at its original value which should be zero, for every stretch, your measurement will also be read incorrectly. If the scale increases by 1%, your reading will also increase by 1%. What scale factor error does is that through percentage or proportion, it adds or deduct from the original value.</a:t>
            </a:r>
          </a:p>
          <a:p>
            <a:r>
              <a:rPr lang="en-US" sz="2200" dirty="0">
                <a:latin typeface="Times New Roman" panose="02020603050405020304" pitchFamily="18" charset="0"/>
                <a:cs typeface="Times New Roman" panose="02020603050405020304" pitchFamily="18" charset="0"/>
              </a:rPr>
              <a:t>One thing to note is that systematic error is always consistent. If it brings a value of say 70g at the first reading, and you decide to conduct the measurement again, it will still give you the same reading as before.</a:t>
            </a:r>
          </a:p>
          <a:p>
            <a:endParaRPr lang="en-IN" dirty="0"/>
          </a:p>
        </p:txBody>
      </p:sp>
    </p:spTree>
    <p:extLst>
      <p:ext uri="{BB962C8B-B14F-4D97-AF65-F5344CB8AC3E}">
        <p14:creationId xmlns:p14="http://schemas.microsoft.com/office/powerpoint/2010/main" val="41906039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Causes of Systematic Errors in Research</a:t>
            </a:r>
            <a:r>
              <a:rPr lang="en-US" dirty="0"/>
              <a:t/>
            </a:r>
            <a:br>
              <a:rPr lang="en-US" dirty="0"/>
            </a:br>
            <a:endParaRPr lang="en-IN" dirty="0"/>
          </a:p>
        </p:txBody>
      </p:sp>
      <p:sp>
        <p:nvSpPr>
          <p:cNvPr id="3" name="Content Placeholder 2"/>
          <p:cNvSpPr>
            <a:spLocks noGrp="1"/>
          </p:cNvSpPr>
          <p:nvPr>
            <p:ph idx="1"/>
          </p:nvPr>
        </p:nvSpPr>
        <p:spPr/>
        <p:txBody>
          <a:bodyPr>
            <a:normAutofit/>
          </a:bodyPr>
          <a:lstStyle/>
          <a:p>
            <a:r>
              <a:rPr lang="en-US" sz="2000" b="1" dirty="0">
                <a:latin typeface="Times New Roman" panose="02020603050405020304" pitchFamily="18" charset="0"/>
                <a:cs typeface="Times New Roman" panose="02020603050405020304" pitchFamily="18" charset="0"/>
              </a:rPr>
              <a:t>Researcher’s Error</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When a researcher is ignorant, has a physical challenge that can cause an effect on a study, or is just careless, it can alter the outcome of the research. Preventing any of the above-listed traits as a researcher can immensely reduce the likelihood of making errors in your research.</a:t>
            </a:r>
          </a:p>
          <a:p>
            <a:r>
              <a:rPr lang="en-US" sz="2000" b="1" dirty="0">
                <a:latin typeface="Times New Roman" panose="02020603050405020304" pitchFamily="18" charset="0"/>
                <a:cs typeface="Times New Roman" panose="02020603050405020304" pitchFamily="18" charset="0"/>
              </a:rPr>
              <a:t>Instrument Error</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Systematic error can happen if your equipment is faulty. The imperfection of your experiment equipment can alter your study and ultimately, its findings. </a:t>
            </a:r>
          </a:p>
          <a:p>
            <a:r>
              <a:rPr lang="en-US" sz="2000" b="1" dirty="0">
                <a:latin typeface="Times New Roman" panose="02020603050405020304" pitchFamily="18" charset="0"/>
                <a:cs typeface="Times New Roman" panose="02020603050405020304" pitchFamily="18" charset="0"/>
              </a:rPr>
              <a:t>Analysis method Error</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As a researcher, if you do not plan how you’ll control your experiment in advance, your research is at risk of being inaccurate. So to reduce the risk of error in your research, try as much as possible to limit your independent variables to only one. The lesser your variables in an analysis, the more chance you have to error-free research.</a:t>
            </a:r>
          </a:p>
          <a:p>
            <a:endParaRPr lang="en-IN" dirty="0"/>
          </a:p>
        </p:txBody>
      </p:sp>
    </p:spTree>
    <p:extLst>
      <p:ext uri="{BB962C8B-B14F-4D97-AF65-F5344CB8AC3E}">
        <p14:creationId xmlns:p14="http://schemas.microsoft.com/office/powerpoint/2010/main" val="10833618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Effects of Systematic Error in Research</a:t>
            </a:r>
            <a:r>
              <a:rPr lang="en-US" dirty="0"/>
              <a:t/>
            </a:r>
            <a:br>
              <a:rPr lang="en-US" dirty="0"/>
            </a:br>
            <a:endParaRPr lang="en-IN" dirty="0"/>
          </a:p>
        </p:txBody>
      </p:sp>
      <p:sp>
        <p:nvSpPr>
          <p:cNvPr id="3" name="Content Placeholder 2"/>
          <p:cNvSpPr>
            <a:spLocks noGrp="1"/>
          </p:cNvSpPr>
          <p:nvPr>
            <p:ph idx="1"/>
          </p:nvPr>
        </p:nvSpPr>
        <p:spPr/>
        <p:txBody>
          <a:bodyPr/>
          <a:lstStyle/>
          <a:p>
            <a:r>
              <a:rPr lang="en-US" sz="2000" dirty="0">
                <a:latin typeface="Times New Roman" panose="02020603050405020304" pitchFamily="18" charset="0"/>
                <a:cs typeface="Times New Roman" panose="02020603050405020304" pitchFamily="18" charset="0"/>
              </a:rPr>
              <a:t>The effect of a systematic error in research is that it will move the value of your measurements away from their original value by the same percentage or the same proportion while in the same direction. </a:t>
            </a:r>
          </a:p>
          <a:p>
            <a:r>
              <a:rPr lang="en-US" sz="2000" dirty="0">
                <a:latin typeface="Times New Roman" panose="02020603050405020304" pitchFamily="18" charset="0"/>
                <a:cs typeface="Times New Roman" panose="02020603050405020304" pitchFamily="18" charset="0"/>
              </a:rPr>
              <a:t>The consequence is that shifting the measurement does not affect your reliability. This is because irrespective of how many times you repeat the measurement, you will get the same value. However, the effect is on the accuracy of your result. If you’re not careful enough to notice the inaccuracy, you might draw the wrong conclusion or even apply the wrong solutions.</a:t>
            </a:r>
          </a:p>
          <a:p>
            <a:endParaRPr lang="en-IN" dirty="0"/>
          </a:p>
        </p:txBody>
      </p:sp>
    </p:spTree>
    <p:extLst>
      <p:ext uri="{BB962C8B-B14F-4D97-AF65-F5344CB8AC3E}">
        <p14:creationId xmlns:p14="http://schemas.microsoft.com/office/powerpoint/2010/main" val="41170079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3041" y="807529"/>
            <a:ext cx="10515600" cy="5131357"/>
          </a:xfrm>
        </p:spPr>
        <p:txBody>
          <a:bodyPr>
            <a:normAutofit/>
          </a:bodyPr>
          <a:lstStyle/>
          <a:p>
            <a:r>
              <a:rPr lang="en-US" sz="2000" b="1" dirty="0">
                <a:latin typeface="Times New Roman" panose="02020603050405020304" pitchFamily="18" charset="0"/>
                <a:cs typeface="Times New Roman" panose="02020603050405020304" pitchFamily="18" charset="0"/>
              </a:rPr>
              <a:t>Example one:</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Let’s assume some researchers are carrying out a study on weight loss. At the end of the research, the researchers realized the scale added 15pounds to each of the sample data, they then concluded that their finding is inaccurate because the scale used gave a wrong reading. Now, this is an example of a systematic error, because the error, although consistent, is inaccurate. If the researchers did not realize the disparity, they would have made a wrong conclusion.</a:t>
            </a:r>
          </a:p>
          <a:p>
            <a:r>
              <a:rPr lang="en-US" sz="2000" dirty="0">
                <a:latin typeface="Times New Roman" panose="02020603050405020304" pitchFamily="18" charset="0"/>
                <a:cs typeface="Times New Roman" panose="02020603050405020304" pitchFamily="18" charset="0"/>
              </a:rPr>
              <a:t>This example shows how systematic error can occur in research because of faulty instruments. Therefore, frequent calibration is advised before conducting a test.</a:t>
            </a:r>
          </a:p>
          <a:p>
            <a:r>
              <a:rPr lang="en-US" sz="2000" b="1" dirty="0">
                <a:latin typeface="Times New Roman" panose="02020603050405020304" pitchFamily="18" charset="0"/>
                <a:cs typeface="Times New Roman" panose="02020603050405020304" pitchFamily="18" charset="0"/>
              </a:rPr>
              <a:t>Example two:</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When measuring the temperature of a room, if your thermometer and the room you’re measuring are in poor contact, you will get an inaccurate reading. If you repeat the test and your thermometer still has low thermal contact with the room, you will get constant results even though inaccurate. Here, the thermometer is not faulty, the cause of the error is from the researcher’s wrongful handling.</a:t>
            </a:r>
          </a:p>
          <a:p>
            <a:endParaRPr lang="en-IN" dirty="0"/>
          </a:p>
        </p:txBody>
      </p:sp>
    </p:spTree>
    <p:extLst>
      <p:ext uri="{BB962C8B-B14F-4D97-AF65-F5344CB8AC3E}">
        <p14:creationId xmlns:p14="http://schemas.microsoft.com/office/powerpoint/2010/main" val="16374703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can we eliminate systematic error?</a:t>
            </a:r>
            <a:r>
              <a:rPr lang="en-US" dirty="0"/>
              <a:t/>
            </a:r>
            <a:br>
              <a:rPr lang="en-US" dirty="0"/>
            </a:br>
            <a:endParaRPr lang="en-IN" dirty="0"/>
          </a:p>
        </p:txBody>
      </p:sp>
      <p:sp>
        <p:nvSpPr>
          <p:cNvPr id="3" name="Content Placeholder 2"/>
          <p:cNvSpPr>
            <a:spLocks noGrp="1"/>
          </p:cNvSpPr>
          <p:nvPr>
            <p:ph idx="1"/>
          </p:nvPr>
        </p:nvSpPr>
        <p:spPr/>
        <p:txBody>
          <a:bodyPr>
            <a:normAutofit/>
          </a:bodyPr>
          <a:lstStyle/>
          <a:p>
            <a:r>
              <a:rPr lang="en-US" sz="2000" b="1" dirty="0" smtClean="0">
                <a:latin typeface="Times New Roman" panose="02020603050405020304" pitchFamily="18" charset="0"/>
                <a:cs typeface="Times New Roman" panose="02020603050405020304" pitchFamily="18" charset="0"/>
              </a:rPr>
              <a:t>Triangulation</a:t>
            </a:r>
            <a:r>
              <a:rPr lang="en-US" sz="2000" dirty="0">
                <a:latin typeface="Times New Roman" panose="02020603050405020304" pitchFamily="18" charset="0"/>
                <a:cs typeface="Times New Roman" panose="02020603050405020304" pitchFamily="18" charset="0"/>
              </a:rPr>
              <a:t>: This is the method of using over one technique to document your research observations. That way you don’t rely on one piece of equipment or technique. When you’re done with your testing, you can easily compare the findings from your </a:t>
            </a:r>
            <a:r>
              <a:rPr lang="en-US" sz="2000" b="1" dirty="0">
                <a:latin typeface="Times New Roman" panose="02020603050405020304" pitchFamily="18" charset="0"/>
                <a:cs typeface="Times New Roman" panose="02020603050405020304" pitchFamily="18" charset="0"/>
              </a:rPr>
              <a:t>multiple techniques </a:t>
            </a:r>
            <a:r>
              <a:rPr lang="en-US" sz="2000" dirty="0">
                <a:latin typeface="Times New Roman" panose="02020603050405020304" pitchFamily="18" charset="0"/>
                <a:cs typeface="Times New Roman" panose="02020603050405020304" pitchFamily="18" charset="0"/>
              </a:rPr>
              <a:t>and see whether they match or they don’t.</a:t>
            </a:r>
          </a:p>
          <a:p>
            <a:r>
              <a:rPr lang="en-US" sz="2000" b="1" dirty="0">
                <a:latin typeface="Times New Roman" panose="02020603050405020304" pitchFamily="18" charset="0"/>
                <a:cs typeface="Times New Roman" panose="02020603050405020304" pitchFamily="18" charset="0"/>
              </a:rPr>
              <a:t>Frequent calibration</a:t>
            </a:r>
            <a:r>
              <a:rPr lang="en-US" sz="2000" dirty="0">
                <a:latin typeface="Times New Roman" panose="02020603050405020304" pitchFamily="18" charset="0"/>
                <a:cs typeface="Times New Roman" panose="02020603050405020304" pitchFamily="18" charset="0"/>
              </a:rPr>
              <a:t>: This means that you </a:t>
            </a:r>
            <a:r>
              <a:rPr lang="en-US" sz="2000" b="1" dirty="0">
                <a:latin typeface="Times New Roman" panose="02020603050405020304" pitchFamily="18" charset="0"/>
                <a:cs typeface="Times New Roman" panose="02020603050405020304" pitchFamily="18" charset="0"/>
              </a:rPr>
              <a:t>compare the findings from your test to the standard value or theoretical result</a:t>
            </a:r>
            <a:r>
              <a:rPr lang="en-US" sz="2000" dirty="0">
                <a:latin typeface="Times New Roman" panose="02020603050405020304" pitchFamily="18" charset="0"/>
                <a:cs typeface="Times New Roman" panose="02020603050405020304" pitchFamily="18" charset="0"/>
              </a:rPr>
              <a:t>. Doing this regularly with a standard result to cross-check can reduce the chance of systematic error in your research.</a:t>
            </a:r>
          </a:p>
          <a:p>
            <a:r>
              <a:rPr lang="en-US" sz="2000" dirty="0">
                <a:latin typeface="Times New Roman" panose="02020603050405020304" pitchFamily="18" charset="0"/>
                <a:cs typeface="Times New Roman" panose="02020603050405020304" pitchFamily="18" charset="0"/>
              </a:rPr>
              <a:t>When you’re conducting research, make sure you do routine checks. If you’re wondering how often you should perform calibration, note that this generally depends on your equipment.</a:t>
            </a:r>
          </a:p>
          <a:p>
            <a:r>
              <a:rPr lang="en-US" sz="2000" b="1" dirty="0">
                <a:latin typeface="Times New Roman" panose="02020603050405020304" pitchFamily="18" charset="0"/>
                <a:cs typeface="Times New Roman" panose="02020603050405020304" pitchFamily="18" charset="0"/>
              </a:rPr>
              <a:t>Randomization: </a:t>
            </a:r>
            <a:r>
              <a:rPr lang="en-US" sz="2000" dirty="0">
                <a:latin typeface="Times New Roman" panose="02020603050405020304" pitchFamily="18" charset="0"/>
                <a:cs typeface="Times New Roman" panose="02020603050405020304" pitchFamily="18" charset="0"/>
              </a:rPr>
              <a:t>Using randomization in your study can reduce the risk of systematic error because when you’re testing your data, you can </a:t>
            </a:r>
            <a:r>
              <a:rPr lang="en-US" sz="2000" b="1" dirty="0">
                <a:latin typeface="Times New Roman" panose="02020603050405020304" pitchFamily="18" charset="0"/>
                <a:cs typeface="Times New Roman" panose="02020603050405020304" pitchFamily="18" charset="0"/>
              </a:rPr>
              <a:t>randomly group your data sample into a relevant treatment group</a:t>
            </a:r>
            <a:r>
              <a:rPr lang="en-US" sz="2000" dirty="0">
                <a:latin typeface="Times New Roman" panose="02020603050405020304" pitchFamily="18" charset="0"/>
                <a:cs typeface="Times New Roman" panose="02020603050405020304" pitchFamily="18" charset="0"/>
              </a:rPr>
              <a:t>. That will even the sample size across their groups.</a:t>
            </a:r>
          </a:p>
          <a:p>
            <a:endParaRPr lang="en-IN" dirty="0"/>
          </a:p>
        </p:txBody>
      </p:sp>
    </p:spTree>
    <p:extLst>
      <p:ext uri="{BB962C8B-B14F-4D97-AF65-F5344CB8AC3E}">
        <p14:creationId xmlns:p14="http://schemas.microsoft.com/office/powerpoint/2010/main" val="4201513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387</TotalTime>
  <Words>3196</Words>
  <Application>Microsoft Office PowerPoint</Application>
  <PresentationFormat>Widescreen</PresentationFormat>
  <Paragraphs>262</Paragraphs>
  <Slides>55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55</vt:i4>
      </vt:variant>
    </vt:vector>
  </HeadingPairs>
  <TitlesOfParts>
    <vt:vector size="63" baseType="lpstr">
      <vt:lpstr>Arial</vt:lpstr>
      <vt:lpstr>Calibri</vt:lpstr>
      <vt:lpstr>Calibri Light</vt:lpstr>
      <vt:lpstr>inherit</vt:lpstr>
      <vt:lpstr>Lato</vt:lpstr>
      <vt:lpstr>Roboto</vt:lpstr>
      <vt:lpstr>Times New Roman</vt:lpstr>
      <vt:lpstr>Office Theme</vt:lpstr>
      <vt:lpstr>Experimental and modelling skills   </vt:lpstr>
      <vt:lpstr>PowerPoint Presentation</vt:lpstr>
      <vt:lpstr>Scientific method   </vt:lpstr>
      <vt:lpstr>Scientific Method Steps </vt:lpstr>
      <vt:lpstr>PowerPoint Presentation</vt:lpstr>
      <vt:lpstr>Scientific Method Examples </vt:lpstr>
      <vt:lpstr>Role of hypothesis in experiment   </vt:lpstr>
      <vt:lpstr>Characteristics of Hypothesis </vt:lpstr>
      <vt:lpstr>Sources of Hypothesis </vt:lpstr>
      <vt:lpstr>Types of Hypothesis </vt:lpstr>
      <vt:lpstr>PowerPoint Presentation</vt:lpstr>
      <vt:lpstr>PowerPoint Presentation</vt:lpstr>
      <vt:lpstr>Examples of Hypothesis </vt:lpstr>
      <vt:lpstr>Functions of Hypothesis </vt:lpstr>
      <vt:lpstr>How will Hypothesis help in the Scientific Method? </vt:lpstr>
      <vt:lpstr>Dependent and independent variables   </vt:lpstr>
      <vt:lpstr>What is an independent variable? </vt:lpstr>
      <vt:lpstr>Types of independent variables </vt:lpstr>
      <vt:lpstr>PowerPoint Presentation</vt:lpstr>
      <vt:lpstr>PowerPoint Presentation</vt:lpstr>
      <vt:lpstr>PowerPoint Presentation</vt:lpstr>
      <vt:lpstr>PowerPoint Presentation</vt:lpstr>
      <vt:lpstr>What is a dependent variable? </vt:lpstr>
      <vt:lpstr>PowerPoint Presentation</vt:lpstr>
      <vt:lpstr>Control in experiment   </vt:lpstr>
      <vt:lpstr>Control Groups and Experimental Groups</vt:lpstr>
      <vt:lpstr>PowerPoint Presentation</vt:lpstr>
      <vt:lpstr>Why Are Experimental Controls So Important?</vt:lpstr>
      <vt:lpstr>PowerPoint Presentation</vt:lpstr>
      <vt:lpstr>PowerPoint Presentation</vt:lpstr>
      <vt:lpstr>precision and accuracy   </vt:lpstr>
      <vt:lpstr>PowerPoint Presentation</vt:lpstr>
      <vt:lpstr>Accuracy and Precision Examples </vt:lpstr>
      <vt:lpstr>More Examples </vt:lpstr>
      <vt:lpstr>Difference between Accuracy and Precision </vt:lpstr>
      <vt:lpstr>Random Error</vt:lpstr>
      <vt:lpstr>Random Error Examples </vt:lpstr>
      <vt:lpstr>Sources of Random Error </vt:lpstr>
      <vt:lpstr>How to Reduce Random Error </vt:lpstr>
      <vt:lpstr>Types of Random Error </vt:lpstr>
      <vt:lpstr>statistical treatment of data</vt:lpstr>
      <vt:lpstr>What is Statistical Treatment of Data? </vt:lpstr>
      <vt:lpstr>PowerPoint Presentation</vt:lpstr>
      <vt:lpstr>statistical treatment of data   </vt:lpstr>
      <vt:lpstr>PowerPoint Presentation</vt:lpstr>
      <vt:lpstr>PowerPoint Presentation</vt:lpstr>
      <vt:lpstr>systematic errors   </vt:lpstr>
      <vt:lpstr>PowerPoint Presentation</vt:lpstr>
      <vt:lpstr>PowerPoint Presentation</vt:lpstr>
      <vt:lpstr>Types of Systematic Errors </vt:lpstr>
      <vt:lpstr>PowerPoint Presentation</vt:lpstr>
      <vt:lpstr>Causes of Systematic Errors in Research </vt:lpstr>
      <vt:lpstr>Effects of Systematic Error in Research </vt:lpstr>
      <vt:lpstr>PowerPoint Presentation</vt:lpstr>
      <vt:lpstr>How can we eliminate systematic error?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Experimental and modelling skills   </dc:title>
  <dc:creator>Microsoft account</dc:creator>
  <cp:lastModifiedBy>Microsoft account</cp:lastModifiedBy>
  <cp:revision>25</cp:revision>
  <dcterms:created xsi:type="dcterms:W3CDTF">2023-01-09T03:59:06Z</dcterms:created>
  <dcterms:modified xsi:type="dcterms:W3CDTF">2023-01-12T04:10:15Z</dcterms:modified>
</cp:coreProperties>
</file>