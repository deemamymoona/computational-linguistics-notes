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44"/>
  </p:notesMasterIdLst>
  <p:sldIdLst>
    <p:sldId id="326" r:id="rId2"/>
    <p:sldId id="313" r:id="rId3"/>
    <p:sldId id="276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7" r:id="rId13"/>
    <p:sldId id="314" r:id="rId14"/>
    <p:sldId id="327" r:id="rId15"/>
    <p:sldId id="289" r:id="rId16"/>
    <p:sldId id="291" r:id="rId17"/>
    <p:sldId id="290" r:id="rId18"/>
    <p:sldId id="292" r:id="rId19"/>
    <p:sldId id="293" r:id="rId20"/>
    <p:sldId id="294" r:id="rId21"/>
    <p:sldId id="295" r:id="rId22"/>
    <p:sldId id="298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9" r:id="rId32"/>
    <p:sldId id="310" r:id="rId33"/>
    <p:sldId id="311" r:id="rId34"/>
    <p:sldId id="315" r:id="rId35"/>
    <p:sldId id="316" r:id="rId36"/>
    <p:sldId id="317" r:id="rId37"/>
    <p:sldId id="319" r:id="rId38"/>
    <p:sldId id="320" r:id="rId39"/>
    <p:sldId id="322" r:id="rId40"/>
    <p:sldId id="323" r:id="rId41"/>
    <p:sldId id="324" r:id="rId42"/>
    <p:sldId id="32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0E8CE-C59D-450B-A3FF-7AFA3B8D1AD9}" type="datetimeFigureOut">
              <a:rPr lang="en-IN" smtClean="0"/>
              <a:t>19-08-2020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784BC-AA32-4974-A293-50AC2C7EE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33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4D1A8CD-8638-4B32-BF30-659AA33B4B8B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48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44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4652-8447-4315-874C-AE4FC55DFE5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7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98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F082-3105-44EC-8268-2C219B11EF81}" type="datetime1">
              <a:rPr lang="en-IN" smtClean="0"/>
              <a:t>19-08-2020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73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0B94-CE67-41DB-BF56-F3192C2798C8}" type="datetime1">
              <a:rPr lang="en-IN" smtClean="0"/>
              <a:t>19-08-2020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33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7C699-42EF-4028-B769-7CDA58682D23}" type="datetime1">
              <a:rPr lang="en-IN" smtClean="0"/>
              <a:t>19-08-2020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8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3E81B-D35A-45D5-BD35-9DDD9240046A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16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432E-1695-4CA1-8AC4-9DE230274C68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54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A5999-9C61-4FED-833D-735374613A8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506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B292-5AD0-4DBA-9070-F5A199C34140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67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4EE3-284B-4F3C-ACF8-F0281CE0BD9A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242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2142-4591-4893-BF0F-D19B04BCACCB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077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909C-667C-43EF-80C3-BD8B58742B72}" type="datetime1">
              <a:rPr lang="en-IN" smtClean="0"/>
              <a:t>19-08-2020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76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ACE1-7909-444B-92C7-6EC2F04D8840}" type="datetime1">
              <a:rPr lang="en-IN" smtClean="0"/>
              <a:t>19-08-2020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24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B2F80E7-E592-4A52-B8A7-DD3235487C6E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43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23B59B0-7EDD-4567-83AE-66D2AFBB7B72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1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32EFF39-63F3-40F2-A962-06171B737E70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AC97E7D-08A9-491F-ABD6-8060E49C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22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Seven Steps in 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</a:t>
            </a:fld>
            <a:endParaRPr lang="en-IN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037" y="3255818"/>
            <a:ext cx="8409708" cy="23414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154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A8CD-8638-4B32-BF30-659AA33B4B8B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93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Types of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202873"/>
            <a:ext cx="8825659" cy="4493764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an important component of the machine learning process is data storage, we briefly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in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the different types and forms of data that are encountered in the machine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process.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of observation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 unit of observation we mean the smallest entity with measured properties of interest for a study.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person, an object or a thing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time point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geographic region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measurement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Sometimes, units of observation are combined to form units such as person-years.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7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and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966028"/>
          </a:xfrm>
        </p:spPr>
        <p:txBody>
          <a:bodyPr>
            <a:normAutofit/>
          </a:bodyPr>
          <a:lstStyle/>
          <a:p>
            <a:pPr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store the units of observation and their properties can be imagined as collections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data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the following:</a:t>
            </a:r>
          </a:p>
          <a:p>
            <a:pPr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“example” is an instance of the unit of observation for which properties have been recorded.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“example” is also referred to as an “instance”, or “case” or “record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0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and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“feature” is a recorded property or a characteristic of examples. It is also referred to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“attribute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or “variable” 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94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for “examples” and “features”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55273"/>
            <a:ext cx="8825659" cy="4239491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1.Cancer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problem of developing an algorithm for detecting cancer. In this study we note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The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units of observation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patients.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The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members of a sample of cancer patients.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The following attributes of the patients may be chosen as the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pressure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 of the pathology report after a biopsy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78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for “examples” and “features”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e-mail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it be required to build a learning algorithm to identify spam e-mail.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The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of observation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 be an e-mail messages.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The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would be specific messages.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The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might consist of the words used in the messages.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84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and features are generally collected in a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format.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66746"/>
            <a:ext cx="8316167" cy="362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0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forms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Numeric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Categorical or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Ordinal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28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forms of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91264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 Data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feature represents a characteristic measured in numbers, it is called a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 feature</a:t>
            </a:r>
            <a:r>
              <a:rPr lang="en-IN" sz="20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IN" sz="20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or norminal Data</a:t>
            </a:r>
          </a:p>
          <a:p>
            <a:pPr lvl="1"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categorical feature is an attribute that can take on one of a limited, and usually fixed,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values on the basis of some qualitative property.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is also </a:t>
            </a:r>
            <a:r>
              <a:rPr lang="en-IN" sz="20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a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 feature.</a:t>
            </a:r>
            <a:endParaRPr lang="en-IN" sz="20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9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types of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Ordinal Data</a:t>
            </a:r>
            <a:endParaRPr lang="en-IN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denotes a nominal variable with categories falling in an ordered list. Examples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clothing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sizes such as small, medium, and large, or a measurement of customer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on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scale from “not at all happy” to “very happy.”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64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32618" y="2603500"/>
            <a:ext cx="2901253" cy="3416300"/>
          </a:xfrm>
        </p:spPr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data given in Fig.1.2, the features “year”, “price” and “mileage” are numeric and the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“model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“color” and “transmission” are categorical.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12</a:t>
            </a:fld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891" y="2603500"/>
            <a:ext cx="7259781" cy="378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4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ML 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A8CD-8638-4B32-BF30-659AA33B4B8B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3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classes of machine learning problems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Associations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85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learning is a machine learning method for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discovering interesting relations,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“association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rules”, between variables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large databases using some measures of “interestingness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algn="just"/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6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Basket Analysis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82" y="2327564"/>
            <a:ext cx="7301345" cy="453043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0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258291"/>
            <a:ext cx="8825659" cy="4308763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supermarket chain. The management of the chain is interested in knowing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there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any patterns in the purchases of products by customers like the following: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“If a customer buys onions and potatoes together, then he/she is likely to also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buy hamburger.”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an association between the set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products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{onion, potato} and the set {burger}. This association is represented in the form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as follows: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{onion, potato}  {burger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07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measure of how likely a customer, who has bought onion and potato, to buy burger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is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by the conditional probability</a:t>
            </a:r>
          </a:p>
          <a:p>
            <a:pPr lvl="2"/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P({burger}|{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onion, potato</a:t>
            </a:r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this conditional probability is 0.8, then the rule may be stated more precisely as follows: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“80% of customers who buy onion and potato also buy burger.”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4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6174101" cy="3977409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 association rule of the form</a:t>
            </a:r>
          </a:p>
          <a:p>
            <a:pPr lvl="3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=&gt;Y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is, if people buy X then they are also likely to buy Y .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there is a customer who buys X and does not buy Y . Then that customer is a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potentialY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customer. </a:t>
            </a:r>
            <a:endParaRPr lang="en-IN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find such customers, we can target them for cross-selling. A knowledge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such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can be used for promotional pricing or product placements.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055" y="3186545"/>
            <a:ext cx="4572000" cy="278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5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finding an association rule X  Y , we are interested in learning a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P(Y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|X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 is the product the customer may buy and X is the product or the set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products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has already purchased.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90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for Learning Associations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algorithms for generating association rules. Some of the well-known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are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listed below: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Apriori algorithm</a:t>
            </a:r>
          </a:p>
          <a:p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FP-Growth Algorithm (FP stands for Frequency Pattern)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41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2410691"/>
            <a:ext cx="3982502" cy="3981147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410691"/>
            <a:ext cx="4824412" cy="3981147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63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problem of identifying to which of a set of categories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new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belongs, on the basis of a training set of data containing observations (or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instances) whose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membership is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81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3006436"/>
            <a:ext cx="4824413" cy="301336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12338" y="2479965"/>
            <a:ext cx="4035771" cy="374072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3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some new data, say “Score1 = 25”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“Score2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36”, what value should be assigned to “Result” corresponding to the new data;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two categories or classes the new observation should be assigned?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25</a:t>
            </a:fld>
            <a:endParaRPr lang="en-IN"/>
          </a:p>
        </p:txBody>
      </p:sp>
      <p:pic>
        <p:nvPicPr>
          <p:cNvPr id="7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12338" y="2603500"/>
            <a:ext cx="361716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7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26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answer this question, using the given data alone we need to find the rule, or the formula,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that has been used in assigning the values to the class label “Result”.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finding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rule or formula or the method is the classification problem.</a:t>
            </a:r>
          </a:p>
        </p:txBody>
      </p:sp>
    </p:spTree>
    <p:extLst>
      <p:ext uri="{BB962C8B-B14F-4D97-AF65-F5344CB8AC3E}">
        <p14:creationId xmlns:p14="http://schemas.microsoft.com/office/powerpoint/2010/main" val="219807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41418"/>
            <a:ext cx="8825659" cy="3678382"/>
          </a:xfrm>
        </p:spPr>
        <p:txBody>
          <a:bodyPr/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problem, which is the problem of recognizing character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codes from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images, is an example of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27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23" y="3765795"/>
            <a:ext cx="6606849" cy="277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2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Face Recognition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case of face recognition, the input is an image, the classes are people to be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recognized,and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learning program should learn to associate the face images to identities.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28</a:t>
            </a:fld>
            <a:endParaRPr lang="en-IN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473" y="2327564"/>
            <a:ext cx="4114800" cy="4064274"/>
          </a:xfrm>
        </p:spPr>
      </p:pic>
    </p:spTree>
    <p:extLst>
      <p:ext uri="{BB962C8B-B14F-4D97-AF65-F5344CB8AC3E}">
        <p14:creationId xmlns:p14="http://schemas.microsoft.com/office/powerpoint/2010/main" val="354801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speech recognition, the input is acoustic and the classes are words that can be uttered.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29</a:t>
            </a:fld>
            <a:endParaRPr lang="en-IN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603500"/>
            <a:ext cx="4824413" cy="3416300"/>
          </a:xfrm>
        </p:spPr>
      </p:pic>
    </p:spTree>
    <p:extLst>
      <p:ext uri="{BB962C8B-B14F-4D97-AF65-F5344CB8AC3E}">
        <p14:creationId xmlns:p14="http://schemas.microsoft.com/office/powerpoint/2010/main" val="367765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114" y="2603500"/>
            <a:ext cx="4191585" cy="3416299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medical diagnosis, the inputs are the relevant information we have about the patient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 are the illnesses.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9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Discriminant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41419"/>
            <a:ext cx="9197586" cy="4225636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discriminant of a classification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is a rule or a function that is used to assign labels to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observations.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finance company which lends money to customers. Before lending money,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like to assess the risk associated with the loan. For simplicity, let us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assesses the risk based on two variables, namely, the annual income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savings of the customers.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x1 be the annual income and x2 be the annual savings of a customer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using the past data, a rule of the following form with suitable values for 1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2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formulated: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x1 &gt; 1 AND x2 &gt; 2 THEN “low-risk” ELSE “high-risk”.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08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965968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for classification.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a)Logistic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Naive Bayes algorithm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k-NN algorithm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Decision tree algorithm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e) Support vector machine algorithm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f) Random forest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6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41419"/>
            <a:ext cx="8825659" cy="4355218"/>
          </a:xfrm>
        </p:spPr>
        <p:txBody>
          <a:bodyPr>
            <a:no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classification problem requires that examples be classified into one of two or more classes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can have real-valued or discrete input variables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two classes is often called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two-class or binary classification problem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more than two classes is often called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multi-class classification problem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where an example is assigned multiple classes is called a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multi-label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6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355274"/>
            <a:ext cx="4825158" cy="4211782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a regression problem is the problem of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value of a numeric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based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observed values of the variable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the output variable may be a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number,such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integer or a floating point value. These are often quantities, such as amounts and sizes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variables may be discrete or real-valued.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100" y="2757055"/>
            <a:ext cx="3667637" cy="3214254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6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2647183"/>
            <a:ext cx="4824413" cy="3328934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are required to estimate the price of a car aged 25 years with distance 53240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KM and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1200 pounds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example of a regression problem beause we have to predict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numeric variable “Price”.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00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Approach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x denote the set of input variables and y the output variable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the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approach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regression is to assume a model, that is, some mathematical relation between x and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y,involving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parameters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say,</a:t>
            </a:r>
            <a:r>
              <a:rPr lang="el-G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the following form:</a:t>
            </a:r>
          </a:p>
          <a:p>
            <a:pPr lvl="2"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f(x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f(x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regression function. </a:t>
            </a:r>
            <a:endParaRPr lang="en-IN" sz="2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in the set  such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the approximation error is minimized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the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the dependent variable y are as close as possible to the correct values given in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thetraining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36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93273" y="6019801"/>
            <a:ext cx="7952509" cy="676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is the independent variable and Y is the dependent variable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35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2951689"/>
            <a:ext cx="8824913" cy="271992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93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linear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EC34-789F-4DB2-91C6-66D1CDFB8AF5}" type="datetime1">
              <a:rPr lang="en-IN" smtClean="0"/>
              <a:t>19-08-2020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90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only one continuous independent variable x and the assumed relation between the independent variable and the dependent variable y is</a:t>
            </a:r>
          </a:p>
          <a:p>
            <a:pPr lvl="2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a + bx:</a:t>
            </a:r>
          </a:p>
          <a:p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100" y="2923309"/>
            <a:ext cx="3667637" cy="2798618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80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linear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more than one independent variable, say x1; : : : ; xn,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assumed relation between the independent variables and the dependent variable is</a:t>
            </a:r>
          </a:p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a</a:t>
            </a:r>
            <a:r>
              <a:rPr lang="en-I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</a:t>
            </a:r>
            <a:r>
              <a:rPr lang="en-I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+........+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84" y="2603500"/>
            <a:ext cx="4467469" cy="341630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76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only one continuous independent variable x and the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assumed model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algn="just"/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a</a:t>
            </a:r>
            <a:r>
              <a:rPr lang="en-I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</a:t>
            </a:r>
            <a:r>
              <a:rPr lang="en-I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+....+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812473"/>
            <a:ext cx="4824412" cy="302029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23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dependent variable is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is, a variable which takes only the values 0 and 1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810" y="2873174"/>
            <a:ext cx="4782217" cy="287695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A18D0-B08C-410D-8508-D7682E61B8E2}" type="datetime1">
              <a:rPr lang="en-IN" smtClean="0"/>
              <a:t>19-08-2020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7E7D-08A9-491F-ABD6-8060E49CC372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89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624</TotalTime>
  <Words>1865</Words>
  <Application>Microsoft Office PowerPoint</Application>
  <PresentationFormat>Widescreen</PresentationFormat>
  <Paragraphs>239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Century Gothic</vt:lpstr>
      <vt:lpstr>Times New Roman</vt:lpstr>
      <vt:lpstr>Wingdings 3</vt:lpstr>
      <vt:lpstr>Ion Boardroom</vt:lpstr>
      <vt:lpstr>Seven Steps in ML</vt:lpstr>
      <vt:lpstr>DATA</vt:lpstr>
      <vt:lpstr>Different Types of DATA</vt:lpstr>
      <vt:lpstr>Examples and Features</vt:lpstr>
      <vt:lpstr>Examples and Features</vt:lpstr>
      <vt:lpstr>Examples for “examples” and “features”</vt:lpstr>
      <vt:lpstr>Examples for “examples” and “features”</vt:lpstr>
      <vt:lpstr>DATA SET</vt:lpstr>
      <vt:lpstr>Different forms of data</vt:lpstr>
      <vt:lpstr>Different forms of data</vt:lpstr>
      <vt:lpstr>Different types of Data</vt:lpstr>
      <vt:lpstr>PowerPoint Presentation</vt:lpstr>
      <vt:lpstr>Examples of ML Applications</vt:lpstr>
      <vt:lpstr>General classes of machine learning problems</vt:lpstr>
      <vt:lpstr>Learning Associations</vt:lpstr>
      <vt:lpstr>Market Basket Analysis</vt:lpstr>
      <vt:lpstr>Example</vt:lpstr>
      <vt:lpstr>PowerPoint Presentation</vt:lpstr>
      <vt:lpstr>Association Rule</vt:lpstr>
      <vt:lpstr>Association Rule</vt:lpstr>
      <vt:lpstr>Algorithms Used for Learning Associations</vt:lpstr>
      <vt:lpstr>Classification</vt:lpstr>
      <vt:lpstr>Classification</vt:lpstr>
      <vt:lpstr>Example</vt:lpstr>
      <vt:lpstr>Example</vt:lpstr>
      <vt:lpstr>PowerPoint Presentation</vt:lpstr>
      <vt:lpstr>Real life examples</vt:lpstr>
      <vt:lpstr>Face Recognition</vt:lpstr>
      <vt:lpstr>Speech recognition</vt:lpstr>
      <vt:lpstr>Medical diagnosis</vt:lpstr>
      <vt:lpstr>Discriminant</vt:lpstr>
      <vt:lpstr>Examples of machine learning algorithms for classification.</vt:lpstr>
      <vt:lpstr>Classification</vt:lpstr>
      <vt:lpstr>Regression</vt:lpstr>
      <vt:lpstr>Example</vt:lpstr>
      <vt:lpstr>General Approach</vt:lpstr>
      <vt:lpstr>PowerPoint Presentation</vt:lpstr>
      <vt:lpstr>Different Regression Models</vt:lpstr>
      <vt:lpstr>PowerPoint Presentation</vt:lpstr>
      <vt:lpstr>Multivariate linear regression</vt:lpstr>
      <vt:lpstr>Polynomial Regression</vt:lpstr>
      <vt:lpstr>Logistic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CS467 Machine Learning</dc:title>
  <dc:creator>Nejiya</dc:creator>
  <cp:lastModifiedBy>Nejiya</cp:lastModifiedBy>
  <cp:revision>33</cp:revision>
  <dcterms:created xsi:type="dcterms:W3CDTF">2020-08-14T02:01:35Z</dcterms:created>
  <dcterms:modified xsi:type="dcterms:W3CDTF">2020-08-19T01:34:37Z</dcterms:modified>
</cp:coreProperties>
</file>